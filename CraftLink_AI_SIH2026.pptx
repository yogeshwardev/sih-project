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17.png"/><Relationship Id="rId11" Type="http://schemas.openxmlformats.org/officeDocument/2006/relationships/image" Target="../media/image1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3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Relationship Id="rId4" Type="http://schemas.openxmlformats.org/officeDocument/2006/relationships/image" Target="../media/image10.png"/><Relationship Id="rId5" Type="http://schemas.openxmlformats.org/officeDocument/2006/relationships/image" Target="../media/image14.png"/><Relationship Id="rId6" Type="http://schemas.openxmlformats.org/officeDocument/2006/relationships/image" Target="../media/image20.png"/><Relationship Id="rId7" Type="http://schemas.openxmlformats.org/officeDocument/2006/relationships/image" Target="../media/image17.png"/><Relationship Id="rId8" Type="http://schemas.openxmlformats.org/officeDocument/2006/relationships/image" Target="../media/image2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4.png"/><Relationship Id="rId4" Type="http://schemas.openxmlformats.org/officeDocument/2006/relationships/hyperlink" Target="https://nbcfdc.gov.in/nbcfdc/web/tulip" TargetMode="External"/><Relationship Id="rId5" Type="http://schemas.openxmlformats.org/officeDocument/2006/relationships/hyperlink" Target="https://socialjustice.gov.in/" TargetMode="External"/><Relationship Id="rId6" Type="http://schemas.openxmlformats.org/officeDocument/2006/relationships/hyperlink" Target="https://handicrafts.nic.in/" TargetMode="External"/><Relationship Id="rId7" Type="http://schemas.openxmlformats.org/officeDocument/2006/relationships/hyperlink" Target="https://www.ibef.org/exports/handicrafts-industry-india" TargetMode="External"/><Relationship Id="rId8" Type="http://schemas.openxmlformats.org/officeDocument/2006/relationships/image" Target="../media/image25.png"/><Relationship Id="rId9" Type="http://schemas.openxmlformats.org/officeDocument/2006/relationships/hyperlink" Target="https://bhashini.gov.in/" TargetMode="External"/><Relationship Id="rId10" Type="http://schemas.openxmlformats.org/officeDocument/2006/relationships/hyperlink" Target="https://www.ondc.org/" TargetMode="External"/><Relationship Id="rId11" Type="http://schemas.openxmlformats.org/officeDocument/2006/relationships/hyperlink" Target="https://ipindia.gov.in/" TargetMode="External"/><Relationship Id="rId12" Type="http://schemas.openxmlformats.org/officeDocument/2006/relationships/hyperlink" Target="https://www.sih.gov.in/" TargetMode="External"/><Relationship Id="rId13" Type="http://schemas.openxmlformats.org/officeDocument/2006/relationships/image" Target="../media/image26.png"/><Relationship Id="rId14" Type="http://schemas.openxmlformats.org/officeDocument/2006/relationships/image" Target="../media/image27.png"/><Relationship Id="rId15" Type="http://schemas.openxmlformats.org/officeDocument/2006/relationships/image" Target="../media/image15.png"/><Relationship Id="rId16" Type="http://schemas.openxmlformats.org/officeDocument/2006/relationships/image" Target="../media/image21.png"/><Relationship Id="rId17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0"/>
            <a:ext cx="4739335" cy="6858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77240" y="457200"/>
            <a:ext cx="2432304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5" name="Picture 4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66928"/>
            <a:ext cx="2249424" cy="9710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1883664"/>
            <a:ext cx="6309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50" b="1" i="0" spc="110">
                <a:solidFill>
                  <a:srgbClr val="C9921B"/>
                </a:solidFill>
                <a:latin typeface="Calibri"/>
              </a:rPr>
              <a:t>SMART INDIA HACKATHON 2026   ·   PROBLEM STATEMENT SIH26090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6309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 i="0" spc="90">
                <a:solidFill>
                  <a:srgbClr val="9AA3C0"/>
                </a:solidFill>
                <a:latin typeface="Calibri"/>
              </a:rPr>
              <a:t>PROBLEM STATEMENT TITLE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63550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300" b="1" i="0">
                <a:solidFill>
                  <a:srgbClr val="FFFFFF"/>
                </a:solidFill>
                <a:latin typeface="Cambria"/>
              </a:rPr>
              <a:t>AI-Driven Market Linkage and Smart Cataloging Mobile Application for Marginalized Artisans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675887"/>
            <a:ext cx="6309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100" b="1" i="0">
                <a:solidFill>
                  <a:srgbClr val="E87A3E"/>
                </a:solidFill>
                <a:latin typeface="Cambria"/>
              </a:rPr>
              <a:t>CraftLink AI</a:t>
            </a:r>
            <a:r>
              <a:rPr sz="1200" b="0" i="0">
                <a:solidFill>
                  <a:srgbClr val="9AA3C0"/>
                </a:solidFill>
                <a:latin typeface="Cambria"/>
              </a:rPr>
              <a:t>   a virtual business manager in the artisan’s pocket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096512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 i="1">
                <a:solidFill>
                  <a:srgbClr val="E8EBF4"/>
                </a:solidFill>
                <a:latin typeface="Cambria"/>
              </a:rPr>
              <a:t>One photo.  One spoken sentence.  A market-ready listing.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4515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750" b="0" i="0" spc="85">
                <a:solidFill>
                  <a:srgbClr val="9AA3C0"/>
                </a:solidFill>
                <a:latin typeface="Calibri"/>
              </a:rPr>
              <a:t>PROBLEM STATEMENT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818888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SIH26090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9080" y="464515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750" b="0" i="0" spc="85">
                <a:solidFill>
                  <a:srgbClr val="9AA3C0"/>
                </a:solidFill>
                <a:latin typeface="Calibri"/>
              </a:rPr>
              <a:t>THEME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4818888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Miscellaneous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175504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750" b="0" i="0" spc="85">
                <a:solidFill>
                  <a:srgbClr val="9AA3C0"/>
                </a:solidFill>
                <a:latin typeface="Calibri"/>
              </a:rPr>
              <a:t>PS CATEGORY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349240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Software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69080" y="5175504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750" b="0" i="0" spc="85">
                <a:solidFill>
                  <a:srgbClr val="9AA3C0"/>
                </a:solidFill>
                <a:latin typeface="Calibri"/>
              </a:rPr>
              <a:t>TEAM 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5349240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126401u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705856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750" b="0" i="0" spc="85">
                <a:solidFill>
                  <a:srgbClr val="9AA3C0"/>
                </a:solidFill>
                <a:latin typeface="Calibri"/>
              </a:rPr>
              <a:t>ORGANISATION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79592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Ministry of Social Justice and Empowerment (MoSJE)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69080" y="5705856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750" b="0" i="0" spc="85">
                <a:solidFill>
                  <a:srgbClr val="9AA3C0"/>
                </a:solidFill>
                <a:latin typeface="Calibri"/>
              </a:rPr>
              <a:t>TEAM NAME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9080" y="5879592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Team Zero Click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382512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9AA3C0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9320" y="6364224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95000"/>
              </a:lnSpc>
            </a:pPr>
            <a:r>
              <a:rPr sz="1200" b="1" i="0">
                <a:solidFill>
                  <a:srgbClr val="C9921B"/>
                </a:solidFill>
                <a:latin typeface="Cambria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11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111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43484"/>
            <a:ext cx="1783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 spc="20">
                <a:solidFill>
                  <a:srgbClr val="FFFFFF"/>
                </a:solidFill>
                <a:latin typeface="Calibri"/>
              </a:rPr>
              <a:t>Team Zero Click</a:t>
            </a:r>
          </a:p>
        </p:txBody>
      </p:sp>
      <p:pic>
        <p:nvPicPr>
          <p:cNvPr id="6" name="Picture 5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219456"/>
            <a:ext cx="2011680" cy="9500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347472"/>
            <a:ext cx="7223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3000" b="1" i="0" spc="40">
                <a:solidFill>
                  <a:srgbClr val="11172E"/>
                </a:solidFill>
                <a:latin typeface="Cambria"/>
              </a:rPr>
              <a:t>IDEA TITLE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6409944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9AA3C0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91656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95000"/>
              </a:lnSpc>
            </a:pPr>
            <a:r>
              <a:rPr sz="1200" b="1" i="0">
                <a:solidFill>
                  <a:srgbClr val="C9921B"/>
                </a:solidFill>
                <a:latin typeface="Cambria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188720"/>
            <a:ext cx="3246120" cy="422452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1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" y="1371600"/>
            <a:ext cx="310896" cy="31089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_2e538a0b47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893" y="1415125"/>
            <a:ext cx="223845" cy="22384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15568" y="1403604"/>
            <a:ext cx="2404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150" b="1" i="0" spc="55">
                <a:solidFill>
                  <a:srgbClr val="11172E"/>
                </a:solidFill>
                <a:latin typeface="Calibri"/>
              </a:rPr>
              <a:t>THE GAP 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1883664"/>
            <a:ext cx="28072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5000"/>
              </a:lnSpc>
            </a:pPr>
            <a:r>
              <a:rPr sz="2900" b="1" i="0">
                <a:solidFill>
                  <a:srgbClr val="C2410C"/>
                </a:solidFill>
                <a:latin typeface="Cambria"/>
              </a:rPr>
              <a:t>7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2267712"/>
            <a:ext cx="28072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B7392"/>
                </a:solidFill>
                <a:latin typeface="Calibri"/>
              </a:rPr>
              <a:t>artisans in India — the vast majority still outside digital commerce.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706624"/>
            <a:ext cx="28072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5000"/>
              </a:lnSpc>
            </a:pPr>
            <a:r>
              <a:rPr sz="2900" b="1" i="0">
                <a:solidFill>
                  <a:srgbClr val="C2410C"/>
                </a:solidFill>
                <a:latin typeface="Cambria"/>
              </a:rPr>
              <a:t>60%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" y="3090672"/>
            <a:ext cx="28072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B7392"/>
                </a:solidFill>
                <a:latin typeface="Calibri"/>
              </a:rPr>
              <a:t>of product value captured by middlemen when they handle the online sale.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3529584"/>
            <a:ext cx="28072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5000"/>
              </a:lnSpc>
            </a:pPr>
            <a:r>
              <a:rPr sz="2900" b="1" i="0">
                <a:solidFill>
                  <a:srgbClr val="C2410C"/>
                </a:solidFill>
                <a:latin typeface="Cambria"/>
              </a:rPr>
              <a:t>3 wks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3913632"/>
            <a:ext cx="28072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B7392"/>
                </a:solidFill>
                <a:latin typeface="Calibri"/>
              </a:rPr>
              <a:t>of market access a year, through melas like Dilli Haat and Surajkund.</a:t>
            </a:r>
          </a:p>
        </p:txBody>
      </p:sp>
      <p:pic>
        <p:nvPicPr>
          <p:cNvPr id="20" name="Picture 19" descr="wea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4389120"/>
            <a:ext cx="2807208" cy="93268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3904487" y="1188720"/>
            <a:ext cx="4069080" cy="422452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1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105655" y="1371600"/>
            <a:ext cx="310896" cy="310896"/>
          </a:xfrm>
          <a:prstGeom prst="ellipse">
            <a:avLst/>
          </a:prstGeom>
          <a:solidFill>
            <a:srgbClr val="1E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c_7b59ffcb527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9181" y="1415125"/>
            <a:ext cx="223845" cy="22384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562855" y="1403604"/>
            <a:ext cx="32278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150" b="1" i="0" spc="55">
                <a:solidFill>
                  <a:srgbClr val="11172E"/>
                </a:solidFill>
                <a:latin typeface="Calibri"/>
              </a:rPr>
              <a:t>THE SOLUTION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23944" y="1847088"/>
            <a:ext cx="363016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C2410C"/>
                </a:solidFill>
                <a:latin typeface="Calibri"/>
              </a:rPr>
              <a:t>CraftLink AI</a:t>
            </a:r>
            <a:r>
              <a:rPr sz="1050" b="0" i="0">
                <a:solidFill>
                  <a:srgbClr val="2E3552"/>
                </a:solidFill>
                <a:latin typeface="Calibri"/>
              </a:rPr>
              <a:t> turns a product photo and one spoken sentence into a market-ready, multilingual, fairly-priced listing.</a:t>
            </a:r>
          </a:p>
        </p:txBody>
      </p:sp>
      <p:sp>
        <p:nvSpPr>
          <p:cNvPr id="26" name="Oval 25"/>
          <p:cNvSpPr/>
          <p:nvPr/>
        </p:nvSpPr>
        <p:spPr>
          <a:xfrm>
            <a:off x="4123944" y="2450592"/>
            <a:ext cx="274320" cy="274320"/>
          </a:xfrm>
          <a:prstGeom prst="ellipse">
            <a:avLst/>
          </a:prstGeom>
          <a:solidFill>
            <a:srgbClr val="1E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c_7773085cdcf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62348" y="2488996"/>
            <a:ext cx="197510" cy="19751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507992" y="2423160"/>
            <a:ext cx="32278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50" b="1" i="0">
                <a:solidFill>
                  <a:srgbClr val="11172E"/>
                </a:solidFill>
                <a:latin typeface="Calibri"/>
              </a:rPr>
              <a:t>Photo capture</a:t>
            </a:r>
          </a:p>
          <a:p>
            <a:pPr algn="l">
              <a:lnSpc>
                <a:spcPct val="95000"/>
              </a:lnSpc>
              <a:spcBef>
                <a:spcPts val="100"/>
              </a:spcBef>
            </a:pPr>
            <a:r>
              <a:rPr sz="950" b="0" i="0">
                <a:solidFill>
                  <a:srgbClr val="6B7392"/>
                </a:solidFill>
                <a:latin typeface="Calibri"/>
              </a:rPr>
              <a:t>Background removal, lighting correction, e-commerce framing.</a:t>
            </a:r>
          </a:p>
        </p:txBody>
      </p:sp>
      <p:sp>
        <p:nvSpPr>
          <p:cNvPr id="29" name="Oval 28"/>
          <p:cNvSpPr/>
          <p:nvPr/>
        </p:nvSpPr>
        <p:spPr>
          <a:xfrm>
            <a:off x="4123944" y="2971800"/>
            <a:ext cx="274320" cy="274320"/>
          </a:xfrm>
          <a:prstGeom prst="ellipse">
            <a:avLst/>
          </a:prstGeom>
          <a:solidFill>
            <a:srgbClr val="33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c_bd848801d82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62348" y="3010204"/>
            <a:ext cx="197510" cy="19751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507992" y="2944368"/>
            <a:ext cx="32278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50" b="1" i="0">
                <a:solidFill>
                  <a:srgbClr val="11172E"/>
                </a:solidFill>
                <a:latin typeface="Calibri"/>
              </a:rPr>
              <a:t>Voice, in any local language</a:t>
            </a:r>
          </a:p>
          <a:p>
            <a:pPr algn="l">
              <a:lnSpc>
                <a:spcPct val="95000"/>
              </a:lnSpc>
              <a:spcBef>
                <a:spcPts val="100"/>
              </a:spcBef>
            </a:pPr>
            <a:r>
              <a:rPr sz="950" b="0" i="0">
                <a:solidFill>
                  <a:srgbClr val="6B7392"/>
                </a:solidFill>
                <a:latin typeface="Calibri"/>
              </a:rPr>
              <a:t>Bhashini / Whisper speech-to-text — no typing, no English.</a:t>
            </a:r>
          </a:p>
        </p:txBody>
      </p:sp>
      <p:sp>
        <p:nvSpPr>
          <p:cNvPr id="32" name="Oval 31"/>
          <p:cNvSpPr/>
          <p:nvPr/>
        </p:nvSpPr>
        <p:spPr>
          <a:xfrm>
            <a:off x="4123944" y="3493008"/>
            <a:ext cx="274320" cy="2743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c_b1a58ef068f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62348" y="3531412"/>
            <a:ext cx="197510" cy="19751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507992" y="3465576"/>
            <a:ext cx="32278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50" b="1" i="0">
                <a:solidFill>
                  <a:srgbClr val="11172E"/>
                </a:solidFill>
                <a:latin typeface="Calibri"/>
              </a:rPr>
              <a:t>AI cataloging</a:t>
            </a:r>
          </a:p>
          <a:p>
            <a:pPr algn="l">
              <a:lnSpc>
                <a:spcPct val="95000"/>
              </a:lnSpc>
              <a:spcBef>
                <a:spcPts val="100"/>
              </a:spcBef>
            </a:pPr>
            <a:r>
              <a:rPr sz="950" b="0" i="0">
                <a:solidFill>
                  <a:srgbClr val="6B7392"/>
                </a:solidFill>
                <a:latin typeface="Calibri"/>
              </a:rPr>
              <a:t>SEO title, description, category and keywords.</a:t>
            </a:r>
          </a:p>
        </p:txBody>
      </p:sp>
      <p:sp>
        <p:nvSpPr>
          <p:cNvPr id="35" name="Oval 34"/>
          <p:cNvSpPr/>
          <p:nvPr/>
        </p:nvSpPr>
        <p:spPr>
          <a:xfrm>
            <a:off x="4123944" y="4014216"/>
            <a:ext cx="274320" cy="274320"/>
          </a:xfrm>
          <a:prstGeom prst="ellipse">
            <a:avLst/>
          </a:prstGeom>
          <a:solidFill>
            <a:srgbClr val="C99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ic_3c81c2ea74e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62348" y="4052620"/>
            <a:ext cx="197510" cy="19751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507992" y="3986784"/>
            <a:ext cx="32278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50" b="1" i="0">
                <a:solidFill>
                  <a:srgbClr val="11172E"/>
                </a:solidFill>
                <a:latin typeface="Calibri"/>
              </a:rPr>
              <a:t>Evidence-based price</a:t>
            </a:r>
          </a:p>
          <a:p>
            <a:pPr algn="l">
              <a:lnSpc>
                <a:spcPct val="95000"/>
              </a:lnSpc>
              <a:spcBef>
                <a:spcPts val="100"/>
              </a:spcBef>
            </a:pPr>
            <a:r>
              <a:rPr sz="950" b="0" i="0">
                <a:solidFill>
                  <a:srgbClr val="6B7392"/>
                </a:solidFill>
                <a:latin typeface="Calibri"/>
              </a:rPr>
              <a:t>Materials + labour + comparable market bands.</a:t>
            </a:r>
          </a:p>
        </p:txBody>
      </p:sp>
      <p:sp>
        <p:nvSpPr>
          <p:cNvPr id="38" name="Oval 37"/>
          <p:cNvSpPr/>
          <p:nvPr/>
        </p:nvSpPr>
        <p:spPr>
          <a:xfrm>
            <a:off x="4123944" y="4535424"/>
            <a:ext cx="274320" cy="274320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c_2f16aae5ae6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62348" y="4573828"/>
            <a:ext cx="197510" cy="19751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4507992" y="4507992"/>
            <a:ext cx="32278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50" b="1" i="0">
                <a:solidFill>
                  <a:srgbClr val="11172E"/>
                </a:solidFill>
                <a:latin typeface="Calibri"/>
              </a:rPr>
              <a:t>Market linkage</a:t>
            </a:r>
          </a:p>
          <a:p>
            <a:pPr algn="l">
              <a:lnSpc>
                <a:spcPct val="95000"/>
              </a:lnSpc>
              <a:spcBef>
                <a:spcPts val="100"/>
              </a:spcBef>
            </a:pPr>
            <a:r>
              <a:rPr sz="950" b="0" i="0">
                <a:solidFill>
                  <a:srgbClr val="6B7392"/>
                </a:solidFill>
                <a:latin typeface="Calibri"/>
              </a:rPr>
              <a:t>ONDC-ready; publishes into MoSJE’s Bharat-TULIP.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23944" y="5102352"/>
            <a:ext cx="3630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i="1">
                <a:solidFill>
                  <a:srgbClr val="0F766E"/>
                </a:solidFill>
                <a:latin typeface="Calibri"/>
              </a:rPr>
              <a:t>Human-in-the-loop: nothing publishes until the artisan approves the words and the price.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74736" y="1188720"/>
            <a:ext cx="3557016" cy="422452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1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375904" y="1371600"/>
            <a:ext cx="310896" cy="310896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ic_e5662189d61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19429" y="1415125"/>
            <a:ext cx="223845" cy="223845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833104" y="1403604"/>
            <a:ext cx="2715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150" b="1" i="0" spc="55">
                <a:solidFill>
                  <a:srgbClr val="11172E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94192" y="1883664"/>
            <a:ext cx="31181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C2410C"/>
                </a:solidFill>
                <a:latin typeface="Calibri"/>
              </a:rPr>
              <a:t>No professional photos</a:t>
            </a:r>
          </a:p>
          <a:p>
            <a:pPr algn="l">
              <a:lnSpc>
                <a:spcPct val="98000"/>
              </a:lnSpc>
              <a:spcBef>
                <a:spcPts val="100"/>
              </a:spcBef>
            </a:pPr>
            <a:r>
              <a:rPr sz="1000" b="0" i="0">
                <a:solidFill>
                  <a:srgbClr val="0F766E"/>
                </a:solidFill>
                <a:latin typeface="Calibri"/>
              </a:rPr>
              <a:t>→  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AI removes clutter, fixes lighting and formats to e-commerce standards.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94192" y="2505456"/>
            <a:ext cx="31181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C2410C"/>
                </a:solidFill>
                <a:latin typeface="Calibri"/>
              </a:rPr>
              <a:t>No English, low digital literacy</a:t>
            </a:r>
          </a:p>
          <a:p>
            <a:pPr algn="l">
              <a:lnSpc>
                <a:spcPct val="98000"/>
              </a:lnSpc>
              <a:spcBef>
                <a:spcPts val="100"/>
              </a:spcBef>
            </a:pPr>
            <a:r>
              <a:rPr sz="1000" b="0" i="0">
                <a:solidFill>
                  <a:srgbClr val="0F766E"/>
                </a:solidFill>
                <a:latin typeface="Calibri"/>
              </a:rPr>
              <a:t>→  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Local-language voice notes become SEO-ready descriptions.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94192" y="3127248"/>
            <a:ext cx="31181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C2410C"/>
                </a:solidFill>
                <a:latin typeface="Calibri"/>
              </a:rPr>
              <a:t>No pricing knowledge</a:t>
            </a:r>
          </a:p>
          <a:p>
            <a:pPr algn="l">
              <a:lnSpc>
                <a:spcPct val="98000"/>
              </a:lnSpc>
              <a:spcBef>
                <a:spcPts val="100"/>
              </a:spcBef>
            </a:pPr>
            <a:r>
              <a:rPr sz="1000" b="0" i="0">
                <a:solidFill>
                  <a:srgbClr val="0F766E"/>
                </a:solidFill>
                <a:latin typeface="Calibri"/>
              </a:rPr>
              <a:t>→  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ML proposes a price from materials, labour and market trends — with reasons.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94192" y="3749039"/>
            <a:ext cx="31181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C2410C"/>
                </a:solidFill>
                <a:latin typeface="Calibri"/>
              </a:rPr>
              <a:t>Only seasonal melas</a:t>
            </a:r>
          </a:p>
          <a:p>
            <a:pPr algn="l">
              <a:lnSpc>
                <a:spcPct val="98000"/>
              </a:lnSpc>
              <a:spcBef>
                <a:spcPts val="100"/>
              </a:spcBef>
            </a:pPr>
            <a:r>
              <a:rPr sz="1000" b="0" i="0">
                <a:solidFill>
                  <a:srgbClr val="0F766E"/>
                </a:solidFill>
                <a:latin typeface="Calibri"/>
              </a:rPr>
              <a:t>→  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A 365-day storefront replaces a few exhibition weeks a year.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94192" y="4370832"/>
            <a:ext cx="31181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C2410C"/>
                </a:solidFill>
                <a:latin typeface="Calibri"/>
              </a:rPr>
              <a:t>Middlemen take the margin</a:t>
            </a:r>
          </a:p>
          <a:p>
            <a:pPr algn="l">
              <a:lnSpc>
                <a:spcPct val="98000"/>
              </a:lnSpc>
              <a:spcBef>
                <a:spcPts val="100"/>
              </a:spcBef>
            </a:pPr>
            <a:r>
              <a:rPr sz="1000" b="0" i="0">
                <a:solidFill>
                  <a:srgbClr val="0F766E"/>
                </a:solidFill>
                <a:latin typeface="Calibri"/>
              </a:rPr>
              <a:t>→  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Direct artisan-to-buyer linkage through ONDC and Bharat-TULIP.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5541264"/>
            <a:ext cx="11274552" cy="621792"/>
          </a:xfrm>
          <a:prstGeom prst="roundRect">
            <a:avLst>
              <a:gd name="adj" fmla="val 8000"/>
            </a:avLst>
          </a:prstGeom>
          <a:solidFill>
            <a:srgbClr val="111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3232" y="564184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spc="80">
                <a:solidFill>
                  <a:srgbClr val="C9921B"/>
                </a:solidFill>
                <a:latin typeface="Calibri"/>
              </a:rPr>
              <a:t>UNIQUE VALUE</a:t>
            </a:r>
          </a:p>
          <a:p>
            <a:pPr algn="l">
              <a:lnSpc>
                <a:spcPct val="100000"/>
              </a:lnSpc>
            </a:pPr>
            <a:r>
              <a:rPr sz="900" b="1" i="0" spc="80">
                <a:solidFill>
                  <a:srgbClr val="C9921B"/>
                </a:solidFill>
                <a:latin typeface="Calibri"/>
              </a:rPr>
              <a:t>PROPOSITION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26080" y="5660136"/>
            <a:ext cx="8439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E87A3E"/>
                </a:solidFill>
                <a:latin typeface="Calibri"/>
              </a:rPr>
              <a:t>Not another marketplace</a:t>
            </a:r>
            <a:r>
              <a:rPr sz="1050" b="0" i="0">
                <a:solidFill>
                  <a:srgbClr val="E8EBF4"/>
                </a:solidFill>
                <a:latin typeface="Calibri"/>
              </a:rPr>
              <a:t> — an AI co-seller that does the photography, copywriting and pricing an artisan cannot, then hands the finished listing to the rails that already exist: ONDC and MoSJE’s Bharat-TULIP.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11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111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43484"/>
            <a:ext cx="1783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 spc="20">
                <a:solidFill>
                  <a:srgbClr val="FFFFFF"/>
                </a:solidFill>
                <a:latin typeface="Calibri"/>
              </a:rPr>
              <a:t>Team Zero Click</a:t>
            </a:r>
          </a:p>
        </p:txBody>
      </p:sp>
      <p:pic>
        <p:nvPicPr>
          <p:cNvPr id="6" name="Picture 5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219456"/>
            <a:ext cx="2011680" cy="9500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347472"/>
            <a:ext cx="7223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3000" b="1" i="0" spc="40">
                <a:solidFill>
                  <a:srgbClr val="11172E"/>
                </a:solidFill>
                <a:latin typeface="Cambria"/>
              </a:rPr>
              <a:t>TECHNICAL 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6409944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9AA3C0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91656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95000"/>
              </a:lnSpc>
            </a:pPr>
            <a:r>
              <a:rPr sz="1200" b="1" i="0">
                <a:solidFill>
                  <a:srgbClr val="C9921B"/>
                </a:solidFill>
                <a:latin typeface="Cambria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188720"/>
            <a:ext cx="2788920" cy="501091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1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" y="1371600"/>
            <a:ext cx="310896" cy="310896"/>
          </a:xfrm>
          <a:prstGeom prst="ellipse">
            <a:avLst/>
          </a:prstGeom>
          <a:solidFill>
            <a:srgbClr val="1E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_a36d2d3072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893" y="1415125"/>
            <a:ext cx="223845" cy="22384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15568" y="1403604"/>
            <a:ext cx="19476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150" b="1" i="0" spc="55">
                <a:solidFill>
                  <a:srgbClr val="11172E"/>
                </a:solidFill>
                <a:latin typeface="Calibri"/>
              </a:rPr>
              <a:t>TECHNOLOGY STACK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1847088"/>
            <a:ext cx="23500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1" i="0" spc="70">
                <a:solidFill>
                  <a:srgbClr val="0F766E"/>
                </a:solidFill>
                <a:latin typeface="Calibri"/>
              </a:rPr>
              <a:t>AI &amp; 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2061972"/>
            <a:ext cx="23500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50" b="0" i="0">
                <a:solidFill>
                  <a:srgbClr val="2E3552"/>
                </a:solidFill>
                <a:latin typeface="Calibri"/>
              </a:rPr>
              <a:t>Computer vision — rembg / U²-Net, OpenCV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249424"/>
            <a:ext cx="23500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50" b="0" i="0">
                <a:solidFill>
                  <a:srgbClr val="2E3552"/>
                </a:solidFill>
                <a:latin typeface="Calibri"/>
              </a:rPr>
              <a:t>Speech-to-text — Bhashini ASR, Whisper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" y="2436876"/>
            <a:ext cx="23500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50" b="0" i="0">
                <a:solidFill>
                  <a:srgbClr val="2E3552"/>
                </a:solidFill>
                <a:latin typeface="Calibri"/>
              </a:rPr>
              <a:t>LLM — multilingual listing generation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2624328"/>
            <a:ext cx="23500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50" b="0" i="0">
                <a:solidFill>
                  <a:srgbClr val="2E3552"/>
                </a:solidFill>
                <a:latin typeface="Calibri"/>
              </a:rPr>
              <a:t>Scikit-learn — price band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967228"/>
            <a:ext cx="23500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1" i="0" spc="70">
                <a:solidFill>
                  <a:srgbClr val="C2410C"/>
                </a:solidFill>
                <a:latin typeface="Calibri"/>
              </a:rPr>
              <a:t>FRONTEND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3182112"/>
            <a:ext cx="23500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50" b="0" i="0">
                <a:solidFill>
                  <a:srgbClr val="2E3552"/>
                </a:solidFill>
                <a:latin typeface="Calibri"/>
              </a:rPr>
              <a:t>React + TypeScript + Tailwind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3369564"/>
            <a:ext cx="23500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50" b="0" i="0">
                <a:solidFill>
                  <a:srgbClr val="2E3552"/>
                </a:solidFill>
                <a:latin typeface="Calibri"/>
              </a:rPr>
              <a:t>Mobile-first PWA · Recharts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" y="3712464"/>
            <a:ext cx="23500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1" i="0" spc="70">
                <a:solidFill>
                  <a:srgbClr val="334482"/>
                </a:solidFill>
                <a:latin typeface="Calibri"/>
              </a:rPr>
              <a:t>BACKEND &amp;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" y="3927348"/>
            <a:ext cx="23500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50" b="0" i="0">
                <a:solidFill>
                  <a:srgbClr val="2E3552"/>
                </a:solidFill>
                <a:latin typeface="Calibri"/>
              </a:rPr>
              <a:t>Python + FastAPI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" y="4114800"/>
            <a:ext cx="23500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50" b="0" i="0">
                <a:solidFill>
                  <a:srgbClr val="2E3552"/>
                </a:solidFill>
                <a:latin typeface="Calibri"/>
              </a:rPr>
              <a:t>SQLite / PostgreSQL + SQLAlchemy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" y="4457700"/>
            <a:ext cx="23500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1" i="0" spc="70">
                <a:solidFill>
                  <a:srgbClr val="C9921B"/>
                </a:solidFill>
                <a:latin typeface="Calibri"/>
              </a:rPr>
              <a:t>INTEGRATIONS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" y="4672584"/>
            <a:ext cx="23500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50" b="0" i="0">
                <a:solidFill>
                  <a:srgbClr val="2E3552"/>
                </a:solidFill>
                <a:latin typeface="Calibri"/>
              </a:rPr>
              <a:t>ONDC Seller Network APIs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" y="4860036"/>
            <a:ext cx="23500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50" b="0" i="0">
                <a:solidFill>
                  <a:srgbClr val="2E3552"/>
                </a:solidFill>
                <a:latin typeface="Calibri"/>
              </a:rPr>
              <a:t>Bharat-TULIP (MoSJE) publishing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" y="5047488"/>
            <a:ext cx="23500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50" b="0" i="0">
                <a:solidFill>
                  <a:srgbClr val="2E3552"/>
                </a:solidFill>
                <a:latin typeface="Calibri"/>
              </a:rPr>
              <a:t>REST + JSON · .env secrets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468112"/>
            <a:ext cx="2423160" cy="566928"/>
          </a:xfrm>
          <a:prstGeom prst="roundRect">
            <a:avLst>
              <a:gd name="adj" fmla="val 12000"/>
            </a:avLst>
          </a:prstGeom>
          <a:solidFill>
            <a:srgbClr val="EC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" y="5568696"/>
            <a:ext cx="216712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0F766E"/>
                </a:solidFill>
                <a:latin typeface="Calibri"/>
              </a:rPr>
              <a:t>Prototype status:  </a:t>
            </a:r>
            <a:r>
              <a:rPr sz="900" b="0" i="0">
                <a:solidFill>
                  <a:srgbClr val="2E3552"/>
                </a:solidFill>
                <a:latin typeface="Calibri"/>
              </a:rPr>
              <a:t>photo → voice → listing → price → order runs end to end today.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29000" y="1188720"/>
            <a:ext cx="1536192" cy="17556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1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557016" y="1316736"/>
            <a:ext cx="274320" cy="274320"/>
          </a:xfrm>
          <a:prstGeom prst="ellipse">
            <a:avLst/>
          </a:prstGeom>
          <a:solidFill>
            <a:srgbClr val="1E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57016" y="1376172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38728" y="1682496"/>
            <a:ext cx="1316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 spc="35">
                <a:solidFill>
                  <a:srgbClr val="1E2A5A"/>
                </a:solidFill>
                <a:latin typeface="Calibri"/>
              </a:rPr>
              <a:t>INPUT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38728" y="2084832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2E3552"/>
                </a:solidFill>
                <a:latin typeface="Calibri"/>
              </a:rPr>
              <a:t>Product photo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38728" y="2267712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2E3552"/>
                </a:solidFill>
                <a:latin typeface="Calibri"/>
              </a:rPr>
              <a:t>Voice note in the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38728" y="2450592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2E3552"/>
                </a:solidFill>
                <a:latin typeface="Calibri"/>
              </a:rPr>
              <a:t>local language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4988052" y="1993392"/>
            <a:ext cx="109728" cy="128016"/>
          </a:xfrm>
          <a:prstGeom prst="rightArrow">
            <a:avLst/>
          </a:prstGeom>
          <a:solidFill>
            <a:srgbClr val="C2C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120640" y="1188720"/>
            <a:ext cx="1536192" cy="17556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1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248655" y="1316736"/>
            <a:ext cx="274320" cy="274320"/>
          </a:xfrm>
          <a:prstGeom prst="ellipse">
            <a:avLst/>
          </a:prstGeom>
          <a:solidFill>
            <a:srgbClr val="33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48655" y="1376172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30368" y="1682496"/>
            <a:ext cx="1316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 spc="35">
                <a:solidFill>
                  <a:srgbClr val="334482"/>
                </a:solidFill>
                <a:latin typeface="Calibri"/>
              </a:rPr>
              <a:t>AI UNDERSTANDING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30368" y="2084832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2E3552"/>
                </a:solidFill>
                <a:latin typeface="Calibri"/>
              </a:rPr>
              <a:t>Image clean-up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30368" y="2267712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2E3552"/>
                </a:solidFill>
                <a:latin typeface="Calibri"/>
              </a:rPr>
              <a:t>Speech-to-text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30368" y="2450592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2E3552"/>
                </a:solidFill>
                <a:latin typeface="Calibri"/>
              </a:rPr>
              <a:t>Translation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6679692" y="1993392"/>
            <a:ext cx="109728" cy="128016"/>
          </a:xfrm>
          <a:prstGeom prst="rightArrow">
            <a:avLst/>
          </a:prstGeom>
          <a:solidFill>
            <a:srgbClr val="C2C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812279" y="1188720"/>
            <a:ext cx="1536192" cy="17556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1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940295" y="1316736"/>
            <a:ext cx="274320" cy="2743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40295" y="1376172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22007" y="1682496"/>
            <a:ext cx="1316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 spc="35">
                <a:solidFill>
                  <a:srgbClr val="0F766E"/>
                </a:solidFill>
                <a:latin typeface="Calibri"/>
              </a:rPr>
              <a:t>PRODUCT INTELLIGENCE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22007" y="2084832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2E3552"/>
                </a:solidFill>
                <a:latin typeface="Calibri"/>
              </a:rPr>
              <a:t>Attribute extraction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22007" y="2267712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2E3552"/>
                </a:solidFill>
                <a:latin typeface="Calibri"/>
              </a:rPr>
              <a:t>LLM listing copy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22007" y="2450592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2E3552"/>
                </a:solidFill>
                <a:latin typeface="Calibri"/>
              </a:rPr>
              <a:t>Category &amp; keywords</a:t>
            </a:r>
          </a:p>
        </p:txBody>
      </p:sp>
      <p:sp>
        <p:nvSpPr>
          <p:cNvPr id="54" name="Right Arrow 53"/>
          <p:cNvSpPr/>
          <p:nvPr/>
        </p:nvSpPr>
        <p:spPr>
          <a:xfrm>
            <a:off x="8371331" y="1993392"/>
            <a:ext cx="109728" cy="128016"/>
          </a:xfrm>
          <a:prstGeom prst="rightArrow">
            <a:avLst/>
          </a:prstGeom>
          <a:solidFill>
            <a:srgbClr val="C2C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8503920" y="1188720"/>
            <a:ext cx="1536192" cy="17556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1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631936" y="1316736"/>
            <a:ext cx="274320" cy="274320"/>
          </a:xfrm>
          <a:prstGeom prst="ellipse">
            <a:avLst/>
          </a:prstGeom>
          <a:solidFill>
            <a:srgbClr val="C99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631936" y="1376172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13648" y="1682496"/>
            <a:ext cx="1316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 spc="35">
                <a:solidFill>
                  <a:srgbClr val="C9921B"/>
                </a:solidFill>
                <a:latin typeface="Calibri"/>
              </a:rPr>
              <a:t>MARKET INTELLIGENCE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13648" y="2084832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2E3552"/>
                </a:solidFill>
                <a:latin typeface="Calibri"/>
              </a:rPr>
              <a:t>Evidence-based price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13648" y="2267712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2E3552"/>
                </a:solidFill>
                <a:latin typeface="Calibri"/>
              </a:rPr>
              <a:t>Demand signals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13648" y="2450592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2E3552"/>
                </a:solidFill>
                <a:latin typeface="Calibri"/>
              </a:rPr>
              <a:t>Buyer matching</a:t>
            </a:r>
          </a:p>
        </p:txBody>
      </p:sp>
      <p:sp>
        <p:nvSpPr>
          <p:cNvPr id="62" name="Right Arrow 61"/>
          <p:cNvSpPr/>
          <p:nvPr/>
        </p:nvSpPr>
        <p:spPr>
          <a:xfrm>
            <a:off x="10062972" y="1993392"/>
            <a:ext cx="109728" cy="128016"/>
          </a:xfrm>
          <a:prstGeom prst="rightArrow">
            <a:avLst/>
          </a:prstGeom>
          <a:solidFill>
            <a:srgbClr val="C2C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10195559" y="1188720"/>
            <a:ext cx="1536192" cy="17556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1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0323576" y="1316736"/>
            <a:ext cx="274320" cy="274320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323576" y="1376172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05287" y="1682496"/>
            <a:ext cx="1316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 spc="35">
                <a:solidFill>
                  <a:srgbClr val="C2410C"/>
                </a:solidFill>
                <a:latin typeface="Calibri"/>
              </a:rPr>
              <a:t>MOBILE + WEB OUTPUT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05287" y="2084832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2E3552"/>
                </a:solidFill>
                <a:latin typeface="Calibri"/>
              </a:rPr>
              <a:t>Artisan app + dashboard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305287" y="2267712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2E3552"/>
                </a:solidFill>
                <a:latin typeface="Calibri"/>
              </a:rPr>
              <a:t>ONDC / Bharat-TULIP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05287" y="2450592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2E3552"/>
                </a:solidFill>
                <a:latin typeface="Calibri"/>
              </a:rPr>
              <a:t>publish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429000" y="3108960"/>
            <a:ext cx="8302752" cy="457200"/>
          </a:xfrm>
          <a:prstGeom prst="roundRect">
            <a:avLst>
              <a:gd name="adj" fmla="val 14000"/>
            </a:avLst>
          </a:prstGeom>
          <a:solidFill>
            <a:srgbClr val="E9EE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3593592" y="3191256"/>
            <a:ext cx="292608" cy="292608"/>
          </a:xfrm>
          <a:prstGeom prst="ellipse">
            <a:avLst/>
          </a:prstGeom>
          <a:solidFill>
            <a:srgbClr val="1E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ic_a36d2d3072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4557" y="3232221"/>
            <a:ext cx="210677" cy="21067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3995928" y="3200400"/>
            <a:ext cx="75712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E2A5A"/>
                </a:solidFill>
                <a:latin typeface="Calibri"/>
              </a:rPr>
              <a:t>FASTAPI / REST API</a:t>
            </a:r>
            <a:r>
              <a:rPr sz="950" b="0" i="0">
                <a:solidFill>
                  <a:srgbClr val="6B7392"/>
                </a:solidFill>
                <a:latin typeface="Calibri"/>
              </a:rPr>
              <a:t>     request handling  ·  business logic  ·  orchestration  ·  auth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429000" y="3694176"/>
            <a:ext cx="1979676" cy="6766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1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557016" y="3840480"/>
            <a:ext cx="274320" cy="274320"/>
          </a:xfrm>
          <a:prstGeom prst="ellipse">
            <a:avLst/>
          </a:prstGeom>
          <a:solidFill>
            <a:srgbClr val="33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ic_b241be25d9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5420" y="3878884"/>
            <a:ext cx="197510" cy="19751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3922776" y="3822191"/>
            <a:ext cx="13761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 spc="30">
                <a:solidFill>
                  <a:srgbClr val="11172E"/>
                </a:solidFill>
                <a:latin typeface="Calibri"/>
              </a:rPr>
              <a:t>ARTISAN DATA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6B7392"/>
                </a:solidFill>
                <a:latin typeface="Calibri"/>
              </a:rPr>
              <a:t>profiles, skills, clusters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536692" y="3694176"/>
            <a:ext cx="1979676" cy="6766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1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664707" y="3840480"/>
            <a:ext cx="274320" cy="274320"/>
          </a:xfrm>
          <a:prstGeom prst="ellipse">
            <a:avLst/>
          </a:prstGeom>
          <a:solidFill>
            <a:srgbClr val="33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ic_b241be25d9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3112" y="3878884"/>
            <a:ext cx="197510" cy="19751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6030468" y="3822191"/>
            <a:ext cx="13761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 spc="30">
                <a:solidFill>
                  <a:srgbClr val="11172E"/>
                </a:solidFill>
                <a:latin typeface="Calibri"/>
              </a:rPr>
              <a:t>PRODUCT DATA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6B7392"/>
                </a:solidFill>
                <a:latin typeface="Calibri"/>
              </a:rPr>
              <a:t>images, details, categories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644383" y="3694176"/>
            <a:ext cx="1979676" cy="6766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1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7772400" y="3840480"/>
            <a:ext cx="274320" cy="274320"/>
          </a:xfrm>
          <a:prstGeom prst="ellipse">
            <a:avLst/>
          </a:prstGeom>
          <a:solidFill>
            <a:srgbClr val="33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ic_b241be25d9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0804" y="3878884"/>
            <a:ext cx="197510" cy="19751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8138159" y="3822191"/>
            <a:ext cx="13761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 spc="30">
                <a:solidFill>
                  <a:srgbClr val="11172E"/>
                </a:solidFill>
                <a:latin typeface="Calibri"/>
              </a:rPr>
              <a:t>MARKET DATA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6B7392"/>
                </a:solidFill>
                <a:latin typeface="Calibri"/>
              </a:rPr>
              <a:t>trends, prices, demand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752076" y="3694176"/>
            <a:ext cx="1979676" cy="6766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1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880092" y="3840480"/>
            <a:ext cx="274320" cy="274320"/>
          </a:xfrm>
          <a:prstGeom prst="ellipse">
            <a:avLst/>
          </a:prstGeom>
          <a:solidFill>
            <a:srgbClr val="33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ic_b241be25d9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18496" y="3878884"/>
            <a:ext cx="197510" cy="197510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0245852" y="3822191"/>
            <a:ext cx="13761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 spc="30">
                <a:solidFill>
                  <a:srgbClr val="11172E"/>
                </a:solidFill>
                <a:latin typeface="Calibri"/>
              </a:rPr>
              <a:t>BUYER DATA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6B7392"/>
                </a:solidFill>
                <a:latin typeface="Calibri"/>
              </a:rPr>
              <a:t>preferences, history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429000" y="4517136"/>
            <a:ext cx="4846320" cy="168249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1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3630168" y="4700016"/>
            <a:ext cx="310896" cy="310896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ic_69fb8470778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3693" y="4743541"/>
            <a:ext cx="223845" cy="223845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4087368" y="4732020"/>
            <a:ext cx="4005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150" b="1" i="0" spc="55">
                <a:solidFill>
                  <a:srgbClr val="11172E"/>
                </a:solidFill>
                <a:latin typeface="Calibri"/>
              </a:rPr>
              <a:t>HOW IT DELIVERS VALUE</a:t>
            </a:r>
          </a:p>
        </p:txBody>
      </p:sp>
      <p:sp>
        <p:nvSpPr>
          <p:cNvPr id="94" name="Oval 93"/>
          <p:cNvSpPr/>
          <p:nvPr/>
        </p:nvSpPr>
        <p:spPr>
          <a:xfrm>
            <a:off x="3891686" y="5303520"/>
            <a:ext cx="292608" cy="292608"/>
          </a:xfrm>
          <a:prstGeom prst="ellipse">
            <a:avLst/>
          </a:prstGeom>
          <a:solidFill>
            <a:srgbClr val="1E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ic_bd848801d82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2651" y="5344485"/>
            <a:ext cx="210677" cy="210677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3648456" y="5669280"/>
            <a:ext cx="7790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0" i="0">
                <a:solidFill>
                  <a:srgbClr val="2E3552"/>
                </a:solidFill>
                <a:latin typeface="Calibri"/>
              </a:rPr>
              <a:t>Artisan speaks</a:t>
            </a:r>
          </a:p>
        </p:txBody>
      </p:sp>
      <p:sp>
        <p:nvSpPr>
          <p:cNvPr id="97" name="Right Arrow 96"/>
          <p:cNvSpPr/>
          <p:nvPr/>
        </p:nvSpPr>
        <p:spPr>
          <a:xfrm>
            <a:off x="4441240" y="5394960"/>
            <a:ext cx="100584" cy="109728"/>
          </a:xfrm>
          <a:prstGeom prst="rightArrow">
            <a:avLst/>
          </a:prstGeom>
          <a:solidFill>
            <a:srgbClr val="C2C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4798771" y="5303520"/>
            <a:ext cx="292608" cy="292608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9" name="Picture 98" descr="ic_b1a58ef068f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39736" y="5344485"/>
            <a:ext cx="210677" cy="210677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4555540" y="5669280"/>
            <a:ext cx="7790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0" i="0">
                <a:solidFill>
                  <a:srgbClr val="2E3552"/>
                </a:solidFill>
                <a:latin typeface="Calibri"/>
              </a:rPr>
              <a:t>AI builds listing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5348325" y="5394960"/>
            <a:ext cx="100584" cy="109728"/>
          </a:xfrm>
          <a:prstGeom prst="rightArrow">
            <a:avLst/>
          </a:prstGeom>
          <a:solidFill>
            <a:srgbClr val="C2C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5705856" y="5303520"/>
            <a:ext cx="292608" cy="292608"/>
          </a:xfrm>
          <a:prstGeom prst="ellipse">
            <a:avLst/>
          </a:prstGeom>
          <a:solidFill>
            <a:srgbClr val="1E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ic_1d820f080bb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46821" y="5344485"/>
            <a:ext cx="210677" cy="210677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5462625" y="5669280"/>
            <a:ext cx="7790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0" i="0">
                <a:solidFill>
                  <a:srgbClr val="2E3552"/>
                </a:solidFill>
                <a:latin typeface="Calibri"/>
              </a:rPr>
              <a:t>Priced &amp; published</a:t>
            </a:r>
          </a:p>
        </p:txBody>
      </p:sp>
      <p:sp>
        <p:nvSpPr>
          <p:cNvPr id="105" name="Right Arrow 104"/>
          <p:cNvSpPr/>
          <p:nvPr/>
        </p:nvSpPr>
        <p:spPr>
          <a:xfrm>
            <a:off x="6255410" y="5394960"/>
            <a:ext cx="100584" cy="109728"/>
          </a:xfrm>
          <a:prstGeom prst="rightArrow">
            <a:avLst/>
          </a:prstGeom>
          <a:solidFill>
            <a:srgbClr val="C2C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612940" y="5303520"/>
            <a:ext cx="292608" cy="292608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7" name="Picture 106" descr="ic_bb06f8e5eda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53905" y="5344485"/>
            <a:ext cx="210677" cy="21067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6369710" y="5669280"/>
            <a:ext cx="7790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0" i="0">
                <a:solidFill>
                  <a:srgbClr val="2E3552"/>
                </a:solidFill>
                <a:latin typeface="Calibri"/>
              </a:rPr>
              <a:t>Buyer matched</a:t>
            </a:r>
          </a:p>
        </p:txBody>
      </p:sp>
      <p:sp>
        <p:nvSpPr>
          <p:cNvPr id="109" name="Right Arrow 108"/>
          <p:cNvSpPr/>
          <p:nvPr/>
        </p:nvSpPr>
        <p:spPr>
          <a:xfrm>
            <a:off x="7162495" y="5394960"/>
            <a:ext cx="100584" cy="109728"/>
          </a:xfrm>
          <a:prstGeom prst="rightArrow">
            <a:avLst/>
          </a:prstGeom>
          <a:solidFill>
            <a:srgbClr val="C2C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520025" y="5303520"/>
            <a:ext cx="292608" cy="292608"/>
          </a:xfrm>
          <a:prstGeom prst="ellipse">
            <a:avLst/>
          </a:prstGeom>
          <a:solidFill>
            <a:srgbClr val="1E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1" name="Picture 110" descr="ic_47ece8f0409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60990" y="5344485"/>
            <a:ext cx="210677" cy="210677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7276795" y="5669280"/>
            <a:ext cx="7790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0" i="0">
                <a:solidFill>
                  <a:srgbClr val="2E3552"/>
                </a:solidFill>
                <a:latin typeface="Calibri"/>
              </a:rPr>
              <a:t>Income rises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8403336" y="4517136"/>
            <a:ext cx="3328416" cy="168249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1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604504" y="4700016"/>
            <a:ext cx="310896" cy="31089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5" name="Picture 114" descr="ic_588afbfcb357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48029" y="4743541"/>
            <a:ext cx="223845" cy="223845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9061704" y="4732020"/>
            <a:ext cx="2487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150" b="1" i="0" spc="55">
                <a:solidFill>
                  <a:srgbClr val="11172E"/>
                </a:solidFill>
                <a:latin typeface="Calibri"/>
              </a:rPr>
              <a:t>CORE INNOVATION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622792" y="5175504"/>
            <a:ext cx="288950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1172E"/>
                </a:solidFill>
                <a:latin typeface="Calibri"/>
              </a:rPr>
              <a:t>One pipeline, craft to commerce.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 A photo and a spoken sentence become a priced, multilingual, ONDC-ready listing — with the artisan in control at every step.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11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111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43484"/>
            <a:ext cx="1783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 spc="20">
                <a:solidFill>
                  <a:srgbClr val="FFFFFF"/>
                </a:solidFill>
                <a:latin typeface="Calibri"/>
              </a:rPr>
              <a:t>Team Zero Click</a:t>
            </a:r>
          </a:p>
        </p:txBody>
      </p:sp>
      <p:pic>
        <p:nvPicPr>
          <p:cNvPr id="6" name="Picture 5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219456"/>
            <a:ext cx="2011680" cy="9500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347472"/>
            <a:ext cx="7223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3000" b="1" i="0" spc="40">
                <a:solidFill>
                  <a:srgbClr val="11172E"/>
                </a:solidFill>
                <a:latin typeface="Cambria"/>
              </a:rPr>
              <a:t>FEASIBILITY AND VIABILITY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6409944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9AA3C0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91656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95000"/>
              </a:lnSpc>
            </a:pPr>
            <a:r>
              <a:rPr sz="1200" b="1" i="0">
                <a:solidFill>
                  <a:srgbClr val="C9921B"/>
                </a:solidFill>
                <a:latin typeface="Cambria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188720"/>
            <a:ext cx="3642055" cy="239572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1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" y="1371600"/>
            <a:ext cx="310896" cy="310896"/>
          </a:xfrm>
          <a:prstGeom prst="ellipse">
            <a:avLst/>
          </a:prstGeom>
          <a:solidFill>
            <a:srgbClr val="1E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_a36d2d3072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893" y="1415125"/>
            <a:ext cx="223845" cy="22384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15568" y="1403604"/>
            <a:ext cx="2800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150" b="1" i="0" spc="55">
                <a:solidFill>
                  <a:srgbClr val="11172E"/>
                </a:solidFill>
                <a:latin typeface="Calibri"/>
              </a:rPr>
              <a:t>TECHNICAL FEASIBILITY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1938528"/>
            <a:ext cx="3203143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1172E"/>
                </a:solidFill>
                <a:latin typeface="Calibri"/>
              </a:rPr>
              <a:t>AI integration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  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Vision, ASR, LLM and ML models automate clean-up, copy and pricing.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2331720"/>
            <a:ext cx="3203143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1172E"/>
                </a:solidFill>
                <a:latin typeface="Calibri"/>
              </a:rPr>
              <a:t>Mobile-first delivery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  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React + FastAPI shipped as an installable PWA — no special hardware.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724912"/>
            <a:ext cx="3203143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1172E"/>
                </a:solidFill>
                <a:latin typeface="Calibri"/>
              </a:rPr>
              <a:t>Multilingual by default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  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Voice input removes typing and digital-literacy barriers.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" y="3118104"/>
            <a:ext cx="3203143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1172E"/>
                </a:solidFill>
                <a:latin typeface="Calibri"/>
              </a:rPr>
              <a:t>Proven stack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  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Every component is open-source and already running in our prototype.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72991" y="1188720"/>
            <a:ext cx="3642055" cy="239572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1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74159" y="1371600"/>
            <a:ext cx="310896" cy="310896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c_7c9a25f8323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7684" y="1415125"/>
            <a:ext cx="223845" cy="22384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931359" y="1403604"/>
            <a:ext cx="2800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150" b="1" i="0" spc="55">
                <a:solidFill>
                  <a:srgbClr val="11172E"/>
                </a:solidFill>
                <a:latin typeface="Calibri"/>
              </a:rPr>
              <a:t>OPERATIONAL FEASIBILITY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2447" y="1938528"/>
            <a:ext cx="3203143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1172E"/>
                </a:solidFill>
                <a:latin typeface="Calibri"/>
              </a:rPr>
              <a:t>Four taps to sell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  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Open → photograph → speak → approve. No forms, no English.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2447" y="2331720"/>
            <a:ext cx="3203143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1172E"/>
                </a:solidFill>
                <a:latin typeface="Calibri"/>
              </a:rPr>
              <a:t>Works on a shared phone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  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Entry-level Android; listings queue and sync when signal returns.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92447" y="2724912"/>
            <a:ext cx="3203143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1172E"/>
                </a:solidFill>
                <a:latin typeface="Calibri"/>
              </a:rPr>
              <a:t>Cluster-led rollout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  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Onboard through existing artisan clusters and MoSJE corporations.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2447" y="3118104"/>
            <a:ext cx="3203143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1172E"/>
                </a:solidFill>
                <a:latin typeface="Calibri"/>
              </a:rPr>
              <a:t>Artisan stays in control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  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Every AI output is reviewed and editable before publishing.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88782" y="1188720"/>
            <a:ext cx="3642055" cy="239572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1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89950" y="1371600"/>
            <a:ext cx="310896" cy="310896"/>
          </a:xfrm>
          <a:prstGeom prst="ellipse">
            <a:avLst/>
          </a:prstGeom>
          <a:solidFill>
            <a:srgbClr val="C99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c_78d2bf39034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3475" y="1415125"/>
            <a:ext cx="223845" cy="22384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747150" y="1403604"/>
            <a:ext cx="2800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150" b="1" i="0" spc="55">
                <a:solidFill>
                  <a:srgbClr val="11172E"/>
                </a:solidFill>
                <a:latin typeface="Calibri"/>
              </a:rPr>
              <a:t>ECONOMIC VIABILITY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8238" y="1938528"/>
            <a:ext cx="3203143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1172E"/>
                </a:solidFill>
                <a:latin typeface="Calibri"/>
              </a:rPr>
              <a:t>Zero cost to the artisan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  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No listing fee, no commission — the margin stays with the maker.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08238" y="2331720"/>
            <a:ext cx="3203143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1172E"/>
                </a:solidFill>
                <a:latin typeface="Calibri"/>
              </a:rPr>
              <a:t>Low-cost to operate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  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Open-source models plus Bhashini’s free government APIs.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8238" y="2724912"/>
            <a:ext cx="3203143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1172E"/>
                </a:solidFill>
                <a:latin typeface="Calibri"/>
              </a:rPr>
              <a:t>Publicly fundable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  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Fits NSFDC / NBCFDC / NSKFDC and CSR funding routes.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8238" y="3118104"/>
            <a:ext cx="3203143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1172E"/>
                </a:solidFill>
                <a:latin typeface="Calibri"/>
              </a:rPr>
              <a:t>Scales without rebuild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  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New languages, crafts and markets are configuration, not code.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3758184"/>
            <a:ext cx="3642055" cy="24414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1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8368" y="3941064"/>
            <a:ext cx="310896" cy="31089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ic_2e538a0b476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1893" y="3984589"/>
            <a:ext cx="223845" cy="223845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115568" y="3973068"/>
            <a:ext cx="2800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150" b="1" i="0" spc="55">
                <a:solidFill>
                  <a:srgbClr val="11172E"/>
                </a:solidFill>
                <a:latin typeface="Calibri"/>
              </a:rPr>
              <a:t>CHALLENGES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" y="4507992"/>
            <a:ext cx="3203143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1172E"/>
                </a:solidFill>
                <a:latin typeface="Calibri"/>
              </a:rPr>
              <a:t>Image quality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  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Dim, cluttered phone photos reduce segmentation accuracy.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" y="4901184"/>
            <a:ext cx="3203143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1172E"/>
                </a:solidFill>
                <a:latin typeface="Calibri"/>
              </a:rPr>
              <a:t>Voice &amp; dialect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  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Accent and dialect variation degrades transcription.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" y="5294376"/>
            <a:ext cx="3203143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1172E"/>
                </a:solidFill>
                <a:latin typeface="Calibri"/>
              </a:rPr>
              <a:t>AI reliability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  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Generated copy can misdescribe a craft or its provenance.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5687568"/>
            <a:ext cx="3203143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1172E"/>
                </a:solidFill>
                <a:latin typeface="Calibri"/>
              </a:rPr>
              <a:t>Thin market data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  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Sparse comparables weaken any pricing signal.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72991" y="3758184"/>
            <a:ext cx="3642055" cy="24414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1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474159" y="3941064"/>
            <a:ext cx="310896" cy="310896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ic_b99de44a713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17684" y="3984589"/>
            <a:ext cx="223845" cy="223845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4931359" y="3973068"/>
            <a:ext cx="2800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150" b="1" i="0" spc="55">
                <a:solidFill>
                  <a:srgbClr val="11172E"/>
                </a:solidFill>
                <a:latin typeface="Calibri"/>
              </a:rPr>
              <a:t>MITIGATION STRATEGIES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2447" y="4507992"/>
            <a:ext cx="3203143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1172E"/>
                </a:solidFill>
                <a:latin typeface="Calibri"/>
              </a:rPr>
              <a:t>Guided capture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  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On-screen framing hints plus automatic enhancement before inference.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92447" y="4901184"/>
            <a:ext cx="3203143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1172E"/>
                </a:solidFill>
                <a:latin typeface="Calibri"/>
              </a:rPr>
              <a:t>Dual ASR path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  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Bhashini for coverage, Whisper on-device for weak connectivity.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92447" y="5294376"/>
            <a:ext cx="3203143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1172E"/>
                </a:solidFill>
                <a:latin typeface="Calibri"/>
              </a:rPr>
              <a:t>Artisan approval gate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  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Nothing publishes unreviewed; corrections retrain the prompts.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92447" y="5687568"/>
            <a:ext cx="3203143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1172E"/>
                </a:solidFill>
                <a:latin typeface="Calibri"/>
              </a:rPr>
              <a:t>Evidence-labelled pricing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  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Show the basis for every number; never invent a comparable.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88782" y="3758184"/>
            <a:ext cx="3642055" cy="24414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1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289950" y="3941064"/>
            <a:ext cx="310896" cy="310896"/>
          </a:xfrm>
          <a:prstGeom prst="ellipse">
            <a:avLst/>
          </a:prstGeom>
          <a:solidFill>
            <a:srgbClr val="1E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ic_16fd8583ca5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33475" y="3984589"/>
            <a:ext cx="223845" cy="223845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747150" y="3973068"/>
            <a:ext cx="2800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150" b="1" i="0" spc="55">
                <a:solidFill>
                  <a:srgbClr val="11172E"/>
                </a:solidFill>
                <a:latin typeface="Calibri"/>
              </a:rPr>
              <a:t>DELIVERY ROADMAP</a:t>
            </a:r>
          </a:p>
        </p:txBody>
      </p:sp>
      <p:sp>
        <p:nvSpPr>
          <p:cNvPr id="54" name="Oval 53"/>
          <p:cNvSpPr/>
          <p:nvPr/>
        </p:nvSpPr>
        <p:spPr>
          <a:xfrm>
            <a:off x="8326526" y="4576572"/>
            <a:ext cx="100584" cy="10058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45982" y="4507992"/>
            <a:ext cx="29471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70">
                <a:solidFill>
                  <a:srgbClr val="0F766E"/>
                </a:solidFill>
                <a:latin typeface="Calibri"/>
              </a:rPr>
              <a:t>NOW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E3552"/>
                </a:solidFill>
                <a:latin typeface="Calibri"/>
              </a:rPr>
              <a:t>Working prototype runs end to end today.</a:t>
            </a:r>
          </a:p>
        </p:txBody>
      </p:sp>
      <p:sp>
        <p:nvSpPr>
          <p:cNvPr id="56" name="Oval 55"/>
          <p:cNvSpPr/>
          <p:nvPr/>
        </p:nvSpPr>
        <p:spPr>
          <a:xfrm>
            <a:off x="8326526" y="4988052"/>
            <a:ext cx="100584" cy="100584"/>
          </a:xfrm>
          <a:prstGeom prst="ellipse">
            <a:avLst/>
          </a:prstGeom>
          <a:solidFill>
            <a:srgbClr val="1E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45982" y="4919472"/>
            <a:ext cx="29471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70">
                <a:solidFill>
                  <a:srgbClr val="1E2A5A"/>
                </a:solidFill>
                <a:latin typeface="Calibri"/>
              </a:rPr>
              <a:t>0–3 MONTHS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E3552"/>
                </a:solidFill>
                <a:latin typeface="Calibri"/>
              </a:rPr>
              <a:t>Android/PWA pilot — one cluster, 3 languages.</a:t>
            </a:r>
          </a:p>
        </p:txBody>
      </p:sp>
      <p:sp>
        <p:nvSpPr>
          <p:cNvPr id="58" name="Oval 57"/>
          <p:cNvSpPr/>
          <p:nvPr/>
        </p:nvSpPr>
        <p:spPr>
          <a:xfrm>
            <a:off x="8326526" y="5399532"/>
            <a:ext cx="100584" cy="100584"/>
          </a:xfrm>
          <a:prstGeom prst="ellipse">
            <a:avLst/>
          </a:prstGeom>
          <a:solidFill>
            <a:srgbClr val="C99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45982" y="5330952"/>
            <a:ext cx="29471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70">
                <a:solidFill>
                  <a:srgbClr val="C9921B"/>
                </a:solidFill>
                <a:latin typeface="Calibri"/>
              </a:rPr>
              <a:t>3–9 MONTHS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E3552"/>
                </a:solidFill>
                <a:latin typeface="Calibri"/>
              </a:rPr>
              <a:t>Bhashini’s 22 languages; ONDC + TULIP live.</a:t>
            </a:r>
          </a:p>
        </p:txBody>
      </p:sp>
      <p:sp>
        <p:nvSpPr>
          <p:cNvPr id="60" name="Oval 59"/>
          <p:cNvSpPr/>
          <p:nvPr/>
        </p:nvSpPr>
        <p:spPr>
          <a:xfrm>
            <a:off x="8326526" y="5811012"/>
            <a:ext cx="100584" cy="100584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545982" y="5742432"/>
            <a:ext cx="29471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70">
                <a:solidFill>
                  <a:srgbClr val="C2410C"/>
                </a:solidFill>
                <a:latin typeface="Calibri"/>
              </a:rPr>
              <a:t>9–18 MONTHS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E3552"/>
                </a:solidFill>
                <a:latin typeface="Calibri"/>
              </a:rPr>
              <a:t>Scale via NSFDC, NBCFDC and NSKFDC networks.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11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111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43484"/>
            <a:ext cx="1783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 spc="20">
                <a:solidFill>
                  <a:srgbClr val="FFFFFF"/>
                </a:solidFill>
                <a:latin typeface="Calibri"/>
              </a:rPr>
              <a:t>Team Zero Click</a:t>
            </a:r>
          </a:p>
        </p:txBody>
      </p:sp>
      <p:pic>
        <p:nvPicPr>
          <p:cNvPr id="6" name="Picture 5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219456"/>
            <a:ext cx="2011680" cy="9500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347472"/>
            <a:ext cx="7223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3000" b="1" i="0" spc="40">
                <a:solidFill>
                  <a:srgbClr val="11172E"/>
                </a:solidFill>
                <a:latin typeface="Cambria"/>
              </a:rPr>
              <a:t>IMPACT AND BENEFITS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6409944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9AA3C0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91656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95000"/>
              </a:lnSpc>
            </a:pPr>
            <a:r>
              <a:rPr sz="1200" b="1" i="0">
                <a:solidFill>
                  <a:srgbClr val="C9921B"/>
                </a:solidFill>
                <a:latin typeface="Cambria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188720"/>
            <a:ext cx="2688336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1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344168"/>
            <a:ext cx="22860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800" b="1" i="0">
                <a:solidFill>
                  <a:srgbClr val="C2410C"/>
                </a:solidFill>
                <a:latin typeface="Cambria"/>
              </a:rPr>
              <a:t>7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92224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392"/>
                </a:solidFill>
                <a:latin typeface="Calibri"/>
              </a:rPr>
              <a:t>artisans addressable across India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9272" y="1188720"/>
            <a:ext cx="2688336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1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1344168"/>
            <a:ext cx="22860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800" b="1" i="0">
                <a:solidFill>
                  <a:srgbClr val="1E2A5A"/>
                </a:solidFill>
                <a:latin typeface="Cambria"/>
              </a:rPr>
              <a:t>60%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1792224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392"/>
                </a:solidFill>
                <a:latin typeface="Calibri"/>
              </a:rPr>
              <a:t>of value today lost to middlemen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1188720"/>
            <a:ext cx="2688336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1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1344168"/>
            <a:ext cx="22860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800" b="1" i="0">
                <a:solidFill>
                  <a:srgbClr val="0F766E"/>
                </a:solidFill>
                <a:latin typeface="Cambria"/>
              </a:rPr>
              <a:t>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2512" y="1792224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392"/>
                </a:solidFill>
                <a:latin typeface="Calibri"/>
              </a:rPr>
              <a:t>scheduled languages via Bhashini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43416" y="1188720"/>
            <a:ext cx="2688336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1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44584" y="1344168"/>
            <a:ext cx="22860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800" b="1" i="0">
                <a:solidFill>
                  <a:srgbClr val="C9921B"/>
                </a:solidFill>
                <a:latin typeface="Cambria"/>
              </a:rPr>
              <a:t>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44584" y="1792224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392"/>
                </a:solidFill>
                <a:latin typeface="Calibri"/>
              </a:rPr>
              <a:t>commission taken from the artisan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2395728"/>
            <a:ext cx="5349240" cy="380390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1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8368" y="2578608"/>
            <a:ext cx="310896" cy="310896"/>
          </a:xfrm>
          <a:prstGeom prst="ellipse">
            <a:avLst/>
          </a:prstGeom>
          <a:solidFill>
            <a:srgbClr val="1E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_bb06f8e5ed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893" y="2622133"/>
            <a:ext cx="223845" cy="22384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115568" y="2610612"/>
            <a:ext cx="45079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150" b="1" i="0" spc="55">
                <a:solidFill>
                  <a:srgbClr val="11172E"/>
                </a:solidFill>
                <a:latin typeface="Calibri"/>
              </a:rPr>
              <a:t>IMPACT ON STAKEHOLDERS</a:t>
            </a:r>
          </a:p>
        </p:txBody>
      </p:sp>
      <p:sp>
        <p:nvSpPr>
          <p:cNvPr id="26" name="Oval 25"/>
          <p:cNvSpPr/>
          <p:nvPr/>
        </p:nvSpPr>
        <p:spPr>
          <a:xfrm>
            <a:off x="694944" y="3099815"/>
            <a:ext cx="109728" cy="109728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3026664"/>
            <a:ext cx="463600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1172E"/>
                </a:solidFill>
                <a:latin typeface="Calibri"/>
              </a:rPr>
              <a:t>MoSJE beneficiary artisans</a:t>
            </a:r>
            <a:r>
              <a:rPr sz="850" b="0" i="0">
                <a:solidFill>
                  <a:srgbClr val="C2410C"/>
                </a:solidFill>
                <a:latin typeface="Calibri"/>
              </a:rPr>
              <a:t>   SC, OBC, DNT, Safai Karamcharis and PwD makers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 i="0">
                <a:solidFill>
                  <a:srgbClr val="2E3552"/>
                </a:solidFill>
                <a:latin typeface="Calibri"/>
              </a:rPr>
              <a:t>Year-round digital market access without English, a camera or digital skills.</a:t>
            </a:r>
          </a:p>
        </p:txBody>
      </p:sp>
      <p:sp>
        <p:nvSpPr>
          <p:cNvPr id="28" name="Oval 27"/>
          <p:cNvSpPr/>
          <p:nvPr/>
        </p:nvSpPr>
        <p:spPr>
          <a:xfrm>
            <a:off x="694944" y="3886200"/>
            <a:ext cx="109728" cy="109728"/>
          </a:xfrm>
          <a:prstGeom prst="ellipse">
            <a:avLst/>
          </a:prstGeom>
          <a:solidFill>
            <a:srgbClr val="1E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3813048"/>
            <a:ext cx="463600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1172E"/>
                </a:solidFill>
                <a:latin typeface="Calibri"/>
              </a:rPr>
              <a:t>Buyers and customers</a:t>
            </a:r>
            <a:r>
              <a:rPr sz="850" b="0" i="0">
                <a:solidFill>
                  <a:srgbClr val="1E2A5A"/>
                </a:solidFill>
                <a:latin typeface="Calibri"/>
              </a:rPr>
              <a:t>   retail and institutional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 i="0">
                <a:solidFill>
                  <a:srgbClr val="2E3552"/>
                </a:solidFill>
                <a:latin typeface="Calibri"/>
              </a:rPr>
              <a:t>Authentic, discoverable crafts with GI-aware categories and pricing they can see the basis for.</a:t>
            </a:r>
          </a:p>
        </p:txBody>
      </p:sp>
      <p:sp>
        <p:nvSpPr>
          <p:cNvPr id="30" name="Oval 29"/>
          <p:cNvSpPr/>
          <p:nvPr/>
        </p:nvSpPr>
        <p:spPr>
          <a:xfrm>
            <a:off x="694944" y="4672584"/>
            <a:ext cx="109728" cy="109728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4599432"/>
            <a:ext cx="463600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1172E"/>
                </a:solidFill>
                <a:latin typeface="Calibri"/>
              </a:rPr>
              <a:t>Artisan communities and clusters</a:t>
            </a:r>
            <a:r>
              <a:rPr sz="850" b="0" i="0">
                <a:solidFill>
                  <a:srgbClr val="0F766E"/>
                </a:solidFill>
                <a:latin typeface="Calibri"/>
              </a:rPr>
              <a:t>   across 455 craft categories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 i="0">
                <a:solidFill>
                  <a:srgbClr val="2E3552"/>
                </a:solidFill>
                <a:latin typeface="Calibri"/>
              </a:rPr>
              <a:t>Traditional skills gain visibility and commercial value without leaving the village.</a:t>
            </a:r>
          </a:p>
        </p:txBody>
      </p:sp>
      <p:sp>
        <p:nvSpPr>
          <p:cNvPr id="32" name="Oval 31"/>
          <p:cNvSpPr/>
          <p:nvPr/>
        </p:nvSpPr>
        <p:spPr>
          <a:xfrm>
            <a:off x="694944" y="5458968"/>
            <a:ext cx="109728" cy="109728"/>
          </a:xfrm>
          <a:prstGeom prst="ellipse">
            <a:avLst/>
          </a:prstGeom>
          <a:solidFill>
            <a:srgbClr val="C99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" y="5385816"/>
            <a:ext cx="463600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1172E"/>
                </a:solidFill>
                <a:latin typeface="Calibri"/>
              </a:rPr>
              <a:t>MoSJE and its corporations</a:t>
            </a:r>
            <a:r>
              <a:rPr sz="850" b="0" i="0">
                <a:solidFill>
                  <a:srgbClr val="C9921B"/>
                </a:solidFill>
                <a:latin typeface="Calibri"/>
              </a:rPr>
              <a:t>   NSFDC · NBCFDC · NSKFDC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 i="0">
                <a:solidFill>
                  <a:srgbClr val="2E3552"/>
                </a:solidFill>
                <a:latin typeface="Calibri"/>
              </a:rPr>
              <a:t>A measurable, always-on digital channel that extends Bharat-TULIP beyond seasonal melas.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80176" y="2395728"/>
            <a:ext cx="5751576" cy="239572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1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181344" y="2578608"/>
            <a:ext cx="310896" cy="31089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ic_2f16aae5ae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4869" y="2622133"/>
            <a:ext cx="223845" cy="223845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638544" y="2610612"/>
            <a:ext cx="4910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150" b="1" i="0" spc="55">
                <a:solidFill>
                  <a:srgbClr val="11172E"/>
                </a:solidFill>
                <a:latin typeface="Calibri"/>
              </a:rPr>
              <a:t>BENEFITS OF OUR SOLUTION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99632" y="3072384"/>
            <a:ext cx="53126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C2410C"/>
                </a:solidFill>
                <a:latin typeface="Calibri"/>
              </a:rPr>
              <a:t>▪  </a:t>
            </a:r>
            <a:r>
              <a:rPr sz="1000" b="1" i="0">
                <a:solidFill>
                  <a:srgbClr val="11172E"/>
                </a:solidFill>
                <a:latin typeface="Calibri"/>
              </a:rPr>
              <a:t>Higher market reach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  A 365-day storefront replaces a few exhibition weeks a year.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99632" y="3396996"/>
            <a:ext cx="53126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C2410C"/>
                </a:solidFill>
                <a:latin typeface="Calibri"/>
              </a:rPr>
              <a:t>▪  </a:t>
            </a:r>
            <a:r>
              <a:rPr sz="1000" b="1" i="0">
                <a:solidFill>
                  <a:srgbClr val="11172E"/>
                </a:solidFill>
                <a:latin typeface="Calibri"/>
              </a:rPr>
              <a:t>Better earning potential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  Direct linkage returns the margin that middlemen take today.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99632" y="3721608"/>
            <a:ext cx="53126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C2410C"/>
                </a:solidFill>
                <a:latin typeface="Calibri"/>
              </a:rPr>
              <a:t>▪  </a:t>
            </a:r>
            <a:r>
              <a:rPr sz="1000" b="1" i="0">
                <a:solidFill>
                  <a:srgbClr val="11172E"/>
                </a:solidFill>
                <a:latin typeface="Calibri"/>
              </a:rPr>
              <a:t>Language-inclusive commerce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  Voice in the maker’s own language; Bhashini spans all 22.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99632" y="4046220"/>
            <a:ext cx="53126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C2410C"/>
                </a:solidFill>
                <a:latin typeface="Calibri"/>
              </a:rPr>
              <a:t>▪  </a:t>
            </a:r>
            <a:r>
              <a:rPr sz="1000" b="1" i="0">
                <a:solidFill>
                  <a:srgbClr val="11172E"/>
                </a:solidFill>
                <a:latin typeface="Calibri"/>
              </a:rPr>
              <a:t>Faster onboarding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  Photo and voice replace a day of English form-filling.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99632" y="4370832"/>
            <a:ext cx="53126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C2410C"/>
                </a:solidFill>
                <a:latin typeface="Calibri"/>
              </a:rPr>
              <a:t>▪  </a:t>
            </a:r>
            <a:r>
              <a:rPr sz="1000" b="1" i="0">
                <a:solidFill>
                  <a:srgbClr val="11172E"/>
                </a:solidFill>
                <a:latin typeface="Calibri"/>
              </a:rPr>
              <a:t>Smarter matching</a:t>
            </a:r>
            <a:r>
              <a:rPr sz="950" b="0" i="0">
                <a:solidFill>
                  <a:srgbClr val="2E3552"/>
                </a:solidFill>
                <a:latin typeface="Calibri"/>
              </a:rPr>
              <a:t>  Categories, GI tags and demand trends drive buyer discovery.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980176" y="4965192"/>
            <a:ext cx="5751576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1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181344" y="5148072"/>
            <a:ext cx="310896" cy="310896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ic_69fb8470778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4869" y="5191597"/>
            <a:ext cx="223845" cy="223845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638544" y="5180076"/>
            <a:ext cx="4910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150" b="1" i="0" spc="55">
                <a:solidFill>
                  <a:srgbClr val="11172E"/>
                </a:solidFill>
                <a:latin typeface="Calibri"/>
              </a:rPr>
              <a:t>REAL-WORLD OUTCOME</a:t>
            </a:r>
          </a:p>
        </p:txBody>
      </p:sp>
      <p:sp>
        <p:nvSpPr>
          <p:cNvPr id="47" name="Oval 46"/>
          <p:cNvSpPr/>
          <p:nvPr/>
        </p:nvSpPr>
        <p:spPr>
          <a:xfrm>
            <a:off x="6549847" y="5541264"/>
            <a:ext cx="274320" cy="274320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ic_2f16aae5ae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8252" y="5579668"/>
            <a:ext cx="197510" cy="19751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6199632" y="5870448"/>
            <a:ext cx="97475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0" i="0">
                <a:solidFill>
                  <a:srgbClr val="2E3552"/>
                </a:solidFill>
                <a:latin typeface="Calibri"/>
              </a:rPr>
              <a:t>More visibility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7178954" y="5632704"/>
            <a:ext cx="91440" cy="100584"/>
          </a:xfrm>
          <a:prstGeom prst="rightArrow">
            <a:avLst/>
          </a:prstGeom>
          <a:solidFill>
            <a:srgbClr val="C2C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634325" y="5541264"/>
            <a:ext cx="274320" cy="274320"/>
          </a:xfrm>
          <a:prstGeom prst="ellipse">
            <a:avLst/>
          </a:prstGeom>
          <a:solidFill>
            <a:srgbClr val="C99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ic_78d2bf39034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2730" y="5579668"/>
            <a:ext cx="197510" cy="19751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7284110" y="5870448"/>
            <a:ext cx="97475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0" i="0">
                <a:solidFill>
                  <a:srgbClr val="2E3552"/>
                </a:solidFill>
                <a:latin typeface="Calibri"/>
              </a:rPr>
              <a:t>Higher income</a:t>
            </a:r>
          </a:p>
        </p:txBody>
      </p:sp>
      <p:sp>
        <p:nvSpPr>
          <p:cNvPr id="54" name="Right Arrow 53"/>
          <p:cNvSpPr/>
          <p:nvPr/>
        </p:nvSpPr>
        <p:spPr>
          <a:xfrm>
            <a:off x="8263432" y="5632704"/>
            <a:ext cx="91440" cy="100584"/>
          </a:xfrm>
          <a:prstGeom prst="rightArrow">
            <a:avLst/>
          </a:prstGeom>
          <a:solidFill>
            <a:srgbClr val="C2C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718804" y="5541264"/>
            <a:ext cx="274320" cy="2743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ic_47ece8f0409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57208" y="5579668"/>
            <a:ext cx="197510" cy="19751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8368588" y="5870448"/>
            <a:ext cx="97475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0" i="0">
                <a:solidFill>
                  <a:srgbClr val="2E3552"/>
                </a:solidFill>
                <a:latin typeface="Calibri"/>
              </a:rPr>
              <a:t>Business growth</a:t>
            </a:r>
          </a:p>
        </p:txBody>
      </p:sp>
      <p:sp>
        <p:nvSpPr>
          <p:cNvPr id="58" name="Right Arrow 57"/>
          <p:cNvSpPr/>
          <p:nvPr/>
        </p:nvSpPr>
        <p:spPr>
          <a:xfrm>
            <a:off x="9347911" y="5632704"/>
            <a:ext cx="91440" cy="100584"/>
          </a:xfrm>
          <a:prstGeom prst="rightArrow">
            <a:avLst/>
          </a:prstGeom>
          <a:solidFill>
            <a:srgbClr val="C2C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803282" y="5541264"/>
            <a:ext cx="274320" cy="274320"/>
          </a:xfrm>
          <a:prstGeom prst="ellipse">
            <a:avLst/>
          </a:prstGeom>
          <a:solidFill>
            <a:srgbClr val="1E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ic_bb06f8e5ed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1687" y="5579668"/>
            <a:ext cx="197510" cy="19751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453067" y="5870448"/>
            <a:ext cx="97475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0" i="0">
                <a:solidFill>
                  <a:srgbClr val="2E3552"/>
                </a:solidFill>
                <a:latin typeface="Calibri"/>
              </a:rPr>
              <a:t>Stronger clusters</a:t>
            </a:r>
          </a:p>
        </p:txBody>
      </p:sp>
      <p:sp>
        <p:nvSpPr>
          <p:cNvPr id="62" name="Right Arrow 61"/>
          <p:cNvSpPr/>
          <p:nvPr/>
        </p:nvSpPr>
        <p:spPr>
          <a:xfrm>
            <a:off x="10432389" y="5632704"/>
            <a:ext cx="91440" cy="100584"/>
          </a:xfrm>
          <a:prstGeom prst="rightArrow">
            <a:avLst/>
          </a:prstGeom>
          <a:solidFill>
            <a:srgbClr val="C2C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0887760" y="5541264"/>
            <a:ext cx="274320" cy="274320"/>
          </a:xfrm>
          <a:prstGeom prst="ellipse">
            <a:avLst/>
          </a:prstGeom>
          <a:solidFill>
            <a:srgbClr val="33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ic_95267661c48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26165" y="5579668"/>
            <a:ext cx="197510" cy="19751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0537545" y="5870448"/>
            <a:ext cx="97475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0" i="0">
                <a:solidFill>
                  <a:srgbClr val="2E3552"/>
                </a:solidFill>
                <a:latin typeface="Calibri"/>
              </a:rPr>
              <a:t>Skills preserved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11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111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43484"/>
            <a:ext cx="1783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 spc="20">
                <a:solidFill>
                  <a:srgbClr val="FFFFFF"/>
                </a:solidFill>
                <a:latin typeface="Calibri"/>
              </a:rPr>
              <a:t>Team Zero Click</a:t>
            </a:r>
          </a:p>
        </p:txBody>
      </p:sp>
      <p:pic>
        <p:nvPicPr>
          <p:cNvPr id="6" name="Picture 5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219456"/>
            <a:ext cx="2011680" cy="9500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347472"/>
            <a:ext cx="7223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3000" b="1" i="0" spc="40">
                <a:solidFill>
                  <a:srgbClr val="11172E"/>
                </a:solidFill>
                <a:latin typeface="Cambria"/>
              </a:rPr>
              <a:t>RESEARCH  AND 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6409944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9AA3C0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91656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95000"/>
              </a:lnSpc>
            </a:pPr>
            <a:r>
              <a:rPr sz="1200" b="1" i="0">
                <a:solidFill>
                  <a:srgbClr val="C9921B"/>
                </a:solidFill>
                <a:latin typeface="Cambria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188720"/>
            <a:ext cx="5486400" cy="380390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1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" y="1371600"/>
            <a:ext cx="310896" cy="310896"/>
          </a:xfrm>
          <a:prstGeom prst="ellipse">
            <a:avLst/>
          </a:prstGeom>
          <a:solidFill>
            <a:srgbClr val="1E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_c003683714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893" y="1415125"/>
            <a:ext cx="223845" cy="22384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15568" y="1403604"/>
            <a:ext cx="4645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150" b="1" i="0" spc="55">
                <a:solidFill>
                  <a:srgbClr val="11172E"/>
                </a:solidFill>
                <a:latin typeface="Calibri"/>
              </a:rPr>
              <a:t>GOVERNMENT SOURCES &amp; SCHEMES</a:t>
            </a:r>
          </a:p>
        </p:txBody>
      </p:sp>
      <p:sp>
        <p:nvSpPr>
          <p:cNvPr id="14" name="Oval 13"/>
          <p:cNvSpPr/>
          <p:nvPr/>
        </p:nvSpPr>
        <p:spPr>
          <a:xfrm>
            <a:off x="694944" y="1911095"/>
            <a:ext cx="237744" cy="237744"/>
          </a:xfrm>
          <a:prstGeom prst="ellipse">
            <a:avLst/>
          </a:prstGeom>
          <a:solidFill>
            <a:srgbClr val="1E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961388"/>
            <a:ext cx="2377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" y="1883664"/>
            <a:ext cx="46451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1172E"/>
                </a:solidFill>
                <a:latin typeface="Calibri"/>
              </a:rPr>
              <a:t>Ministry of Social Justice and Empowerment, Government of India.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080260"/>
            <a:ext cx="46451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E3552"/>
                </a:solidFill>
                <a:latin typeface="Calibri"/>
              </a:rPr>
              <a:t>Bharat–TULIP (Traditional Artisans’ Upliftment Livelihood Programme) — e-marketplace for marginalized artisans; launched 5 Nov 2024, 1,500+ artisans onboarded.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" y="2391156"/>
            <a:ext cx="46451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0F766E"/>
                </a:solidFill>
                <a:latin typeface="Calibri"/>
                <a:hlinkClick r:id="rId4"/>
              </a:rPr>
              <a:t>https://nbcfdc.gov.in/nbcfdc/web/tulip</a:t>
            </a:r>
          </a:p>
        </p:txBody>
      </p:sp>
      <p:sp>
        <p:nvSpPr>
          <p:cNvPr id="19" name="Oval 18"/>
          <p:cNvSpPr/>
          <p:nvPr/>
        </p:nvSpPr>
        <p:spPr>
          <a:xfrm>
            <a:off x="694944" y="2660903"/>
            <a:ext cx="237744" cy="237744"/>
          </a:xfrm>
          <a:prstGeom prst="ellipse">
            <a:avLst/>
          </a:prstGeom>
          <a:solidFill>
            <a:srgbClr val="1E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2711196"/>
            <a:ext cx="2377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" y="2633472"/>
            <a:ext cx="46451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1172E"/>
                </a:solidFill>
                <a:latin typeface="Calibri"/>
              </a:rPr>
              <a:t>Ministry of Social Justice and Empowerment, Government of India.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" y="2830068"/>
            <a:ext cx="46451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E3552"/>
                </a:solidFill>
                <a:latin typeface="Calibri"/>
              </a:rPr>
              <a:t>PM-DAKSH — skilling and livelihood support for SC, OBC, EWS, DNT and Safai Karamchari artisans.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" y="3140964"/>
            <a:ext cx="46451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0F766E"/>
                </a:solidFill>
                <a:latin typeface="Calibri"/>
                <a:hlinkClick r:id="rId5"/>
              </a:rPr>
              <a:t>https://socialjustice.gov.in/</a:t>
            </a:r>
          </a:p>
        </p:txBody>
      </p:sp>
      <p:sp>
        <p:nvSpPr>
          <p:cNvPr id="24" name="Oval 23"/>
          <p:cNvSpPr/>
          <p:nvPr/>
        </p:nvSpPr>
        <p:spPr>
          <a:xfrm>
            <a:off x="694944" y="3410712"/>
            <a:ext cx="237744" cy="237744"/>
          </a:xfrm>
          <a:prstGeom prst="ellipse">
            <a:avLst/>
          </a:prstGeom>
          <a:solidFill>
            <a:srgbClr val="1E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3461004"/>
            <a:ext cx="2377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" y="3383280"/>
            <a:ext cx="46451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1172E"/>
                </a:solidFill>
                <a:latin typeface="Calibri"/>
              </a:rPr>
              <a:t>Development Commissioner (Handicrafts), Ministry of Textiles.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579876"/>
            <a:ext cx="46451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E3552"/>
                </a:solidFill>
                <a:latin typeface="Calibri"/>
              </a:rPr>
              <a:t>Crafts Clusters of India — artisan development, marketing and cluster support; India Handmade marketplace.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" y="3890772"/>
            <a:ext cx="46451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0F766E"/>
                </a:solidFill>
                <a:latin typeface="Calibri"/>
                <a:hlinkClick r:id="rId6"/>
              </a:rPr>
              <a:t>https://handicrafts.nic.in/</a:t>
            </a:r>
          </a:p>
        </p:txBody>
      </p:sp>
      <p:sp>
        <p:nvSpPr>
          <p:cNvPr id="29" name="Oval 28"/>
          <p:cNvSpPr/>
          <p:nvPr/>
        </p:nvSpPr>
        <p:spPr>
          <a:xfrm>
            <a:off x="694944" y="4160520"/>
            <a:ext cx="237744" cy="237744"/>
          </a:xfrm>
          <a:prstGeom prst="ellipse">
            <a:avLst/>
          </a:prstGeom>
          <a:solidFill>
            <a:srgbClr val="1E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" y="4210812"/>
            <a:ext cx="2377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4133087"/>
            <a:ext cx="46451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1172E"/>
                </a:solidFill>
                <a:latin typeface="Calibri"/>
              </a:rPr>
              <a:t>India Brand Equity Foundation, Ministry of Commerce &amp; Industry.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" y="4329683"/>
            <a:ext cx="46451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E3552"/>
                </a:solidFill>
                <a:latin typeface="Calibri"/>
              </a:rPr>
              <a:t>Indian handicrafts industry — ~7 million artisans; exports ₹33,122 crore in FY 2024-25.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" y="4640579"/>
            <a:ext cx="46451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0F766E"/>
                </a:solidFill>
                <a:latin typeface="Calibri"/>
                <a:hlinkClick r:id="rId7"/>
              </a:rPr>
              <a:t>https://www.ibef.org/exports/handicrafts-industry-india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45352" y="1188720"/>
            <a:ext cx="5486400" cy="380390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1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446520" y="1371600"/>
            <a:ext cx="310896" cy="310896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ic_86263dd085b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90045" y="1415125"/>
            <a:ext cx="223845" cy="223845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903720" y="1403604"/>
            <a:ext cx="4645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150" b="1" i="0" spc="55">
                <a:solidFill>
                  <a:srgbClr val="11172E"/>
                </a:solidFill>
                <a:latin typeface="Calibri"/>
              </a:rPr>
              <a:t>STANDARDS, PLATFORMS &amp; DATA</a:t>
            </a:r>
          </a:p>
        </p:txBody>
      </p:sp>
      <p:sp>
        <p:nvSpPr>
          <p:cNvPr id="38" name="Oval 37"/>
          <p:cNvSpPr/>
          <p:nvPr/>
        </p:nvSpPr>
        <p:spPr>
          <a:xfrm>
            <a:off x="6483096" y="1911095"/>
            <a:ext cx="237744" cy="237744"/>
          </a:xfrm>
          <a:prstGeom prst="ellipse">
            <a:avLst/>
          </a:prstGeom>
          <a:solidFill>
            <a:srgbClr val="1E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83096" y="1961388"/>
            <a:ext cx="2377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48856" y="1883664"/>
            <a:ext cx="46451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1172E"/>
                </a:solidFill>
                <a:latin typeface="Calibri"/>
              </a:rPr>
              <a:t>Bhashini — National Language Translation Mission, MeitY.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48856" y="2080260"/>
            <a:ext cx="46451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E3552"/>
                </a:solidFill>
                <a:latin typeface="Calibri"/>
              </a:rPr>
              <a:t>ASR, machine translation and TTS across the 22 scheduled Indian languages; 300+ models.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48856" y="2391156"/>
            <a:ext cx="46451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0F766E"/>
                </a:solidFill>
                <a:latin typeface="Calibri"/>
                <a:hlinkClick r:id="rId9"/>
              </a:rPr>
              <a:t>https://bhashini.gov.in/</a:t>
            </a:r>
          </a:p>
        </p:txBody>
      </p:sp>
      <p:sp>
        <p:nvSpPr>
          <p:cNvPr id="43" name="Oval 42"/>
          <p:cNvSpPr/>
          <p:nvPr/>
        </p:nvSpPr>
        <p:spPr>
          <a:xfrm>
            <a:off x="6483096" y="2660903"/>
            <a:ext cx="237744" cy="237744"/>
          </a:xfrm>
          <a:prstGeom prst="ellipse">
            <a:avLst/>
          </a:prstGeom>
          <a:solidFill>
            <a:srgbClr val="1E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83096" y="2711196"/>
            <a:ext cx="2377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48856" y="2633472"/>
            <a:ext cx="46451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1172E"/>
                </a:solidFill>
                <a:latin typeface="Calibri"/>
              </a:rPr>
              <a:t>Open Network for Digital Commerce (ONDC), DPIIT-backed initiative.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48856" y="2830068"/>
            <a:ext cx="46451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E3552"/>
                </a:solidFill>
                <a:latin typeface="Calibri"/>
              </a:rPr>
              <a:t>Seller Network Participant onboarding, digital cataloguing and marketplace discovery.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48856" y="3140964"/>
            <a:ext cx="46451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0F766E"/>
                </a:solidFill>
                <a:latin typeface="Calibri"/>
                <a:hlinkClick r:id="rId10"/>
              </a:rPr>
              <a:t>https://www.ondc.org/</a:t>
            </a:r>
          </a:p>
        </p:txBody>
      </p:sp>
      <p:sp>
        <p:nvSpPr>
          <p:cNvPr id="48" name="Oval 47"/>
          <p:cNvSpPr/>
          <p:nvPr/>
        </p:nvSpPr>
        <p:spPr>
          <a:xfrm>
            <a:off x="6483096" y="3410712"/>
            <a:ext cx="237744" cy="237744"/>
          </a:xfrm>
          <a:prstGeom prst="ellipse">
            <a:avLst/>
          </a:prstGeom>
          <a:solidFill>
            <a:srgbClr val="1E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83096" y="3461004"/>
            <a:ext cx="2377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1" i="0">
                <a:solidFill>
                  <a:srgbClr val="FFFFFF"/>
                </a:solidFill>
                <a:latin typeface="Cambria"/>
              </a:rPr>
              <a:t>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48856" y="3383280"/>
            <a:ext cx="46451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1172E"/>
                </a:solidFill>
                <a:latin typeface="Calibri"/>
              </a:rPr>
              <a:t>Intellectual Property India, Government of India.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48856" y="3579876"/>
            <a:ext cx="46451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E3552"/>
                </a:solidFill>
                <a:latin typeface="Calibri"/>
              </a:rPr>
              <a:t>Geographical Indications — protection of handicrafts and traditional products; 318 GI-tagged crafts.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48856" y="3890772"/>
            <a:ext cx="46451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0F766E"/>
                </a:solidFill>
                <a:latin typeface="Calibri"/>
                <a:hlinkClick r:id="rId11"/>
              </a:rPr>
              <a:t>https://ipindia.gov.in/</a:t>
            </a:r>
          </a:p>
        </p:txBody>
      </p:sp>
      <p:sp>
        <p:nvSpPr>
          <p:cNvPr id="53" name="Oval 52"/>
          <p:cNvSpPr/>
          <p:nvPr/>
        </p:nvSpPr>
        <p:spPr>
          <a:xfrm>
            <a:off x="6483096" y="4160520"/>
            <a:ext cx="237744" cy="237744"/>
          </a:xfrm>
          <a:prstGeom prst="ellipse">
            <a:avLst/>
          </a:prstGeom>
          <a:solidFill>
            <a:srgbClr val="1E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83096" y="4210812"/>
            <a:ext cx="2377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1" i="0">
                <a:solidFill>
                  <a:srgbClr val="FFFFFF"/>
                </a:solidFill>
                <a:latin typeface="Cambria"/>
              </a:rPr>
              <a:t>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48856" y="4133087"/>
            <a:ext cx="46451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1172E"/>
                </a:solidFill>
                <a:latin typeface="Calibri"/>
              </a:rPr>
              <a:t>Smart India Hackathon 2026, AICTE / Ministry of Education.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48856" y="4329683"/>
            <a:ext cx="46451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E3552"/>
                </a:solidFill>
                <a:latin typeface="Calibri"/>
              </a:rPr>
              <a:t>Problem Statement SIH26090 — AI-driven market linkage and smart cataloging for marginalized artisans.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48856" y="4640579"/>
            <a:ext cx="46451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0F766E"/>
                </a:solidFill>
                <a:latin typeface="Calibri"/>
                <a:hlinkClick r:id="rId12"/>
              </a:rPr>
              <a:t>https://www.sih.gov.in/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57200" y="5157216"/>
            <a:ext cx="11274552" cy="1042415"/>
          </a:xfrm>
          <a:prstGeom prst="roundRect">
            <a:avLst>
              <a:gd name="adj" fmla="val 6000"/>
            </a:avLst>
          </a:prstGeom>
          <a:solidFill>
            <a:srgbClr val="111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1520" y="5321808"/>
            <a:ext cx="107259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50" b="1" i="0" spc="90">
                <a:solidFill>
                  <a:srgbClr val="C9921B"/>
                </a:solidFill>
                <a:latin typeface="Calibri"/>
              </a:rPr>
              <a:t>BUILT ON INDIA’S DIGITAL PUBLIC INFRASTRUCTURE</a:t>
            </a:r>
          </a:p>
        </p:txBody>
      </p:sp>
      <p:sp>
        <p:nvSpPr>
          <p:cNvPr id="60" name="Oval 59"/>
          <p:cNvSpPr/>
          <p:nvPr/>
        </p:nvSpPr>
        <p:spPr>
          <a:xfrm>
            <a:off x="731520" y="5687568"/>
            <a:ext cx="274320" cy="274320"/>
          </a:xfrm>
          <a:prstGeom prst="ellipse">
            <a:avLst/>
          </a:prstGeom>
          <a:solidFill>
            <a:srgbClr val="33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ic_80b1835210d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9924" y="5725972"/>
            <a:ext cx="197510" cy="19751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97280" y="5669280"/>
            <a:ext cx="164409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Bhashini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9AA3C0"/>
                </a:solidFill>
                <a:latin typeface="Calibri"/>
              </a:rPr>
              <a:t>language access</a:t>
            </a:r>
          </a:p>
        </p:txBody>
      </p:sp>
      <p:sp>
        <p:nvSpPr>
          <p:cNvPr id="63" name="Oval 62"/>
          <p:cNvSpPr/>
          <p:nvPr/>
        </p:nvSpPr>
        <p:spPr>
          <a:xfrm>
            <a:off x="2905963" y="5687568"/>
            <a:ext cx="274320" cy="274320"/>
          </a:xfrm>
          <a:prstGeom prst="ellipse">
            <a:avLst/>
          </a:prstGeom>
          <a:solidFill>
            <a:srgbClr val="33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ic_11713938ef9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944368" y="5725972"/>
            <a:ext cx="197510" cy="19751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3271723" y="5669280"/>
            <a:ext cx="164409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ONDC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9AA3C0"/>
                </a:solidFill>
                <a:latin typeface="Calibri"/>
              </a:rPr>
              <a:t>market reach</a:t>
            </a:r>
          </a:p>
        </p:txBody>
      </p:sp>
      <p:sp>
        <p:nvSpPr>
          <p:cNvPr id="66" name="Oval 65"/>
          <p:cNvSpPr/>
          <p:nvPr/>
        </p:nvSpPr>
        <p:spPr>
          <a:xfrm>
            <a:off x="5080406" y="5687568"/>
            <a:ext cx="274320" cy="274320"/>
          </a:xfrm>
          <a:prstGeom prst="ellipse">
            <a:avLst/>
          </a:prstGeom>
          <a:solidFill>
            <a:srgbClr val="33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ic_1d820f080bb6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18811" y="5725972"/>
            <a:ext cx="197510" cy="19751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5446166" y="5669280"/>
            <a:ext cx="164409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Bharat-TULIP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9AA3C0"/>
                </a:solidFill>
                <a:latin typeface="Calibri"/>
              </a:rPr>
              <a:t>MoSJE marketplace</a:t>
            </a:r>
          </a:p>
        </p:txBody>
      </p:sp>
      <p:sp>
        <p:nvSpPr>
          <p:cNvPr id="69" name="Oval 68"/>
          <p:cNvSpPr/>
          <p:nvPr/>
        </p:nvSpPr>
        <p:spPr>
          <a:xfrm>
            <a:off x="7254849" y="5687568"/>
            <a:ext cx="274320" cy="274320"/>
          </a:xfrm>
          <a:prstGeom prst="ellipse">
            <a:avLst/>
          </a:prstGeom>
          <a:solidFill>
            <a:srgbClr val="33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ic_b99de44a713b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293254" y="5725972"/>
            <a:ext cx="197510" cy="19751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7620609" y="5669280"/>
            <a:ext cx="164409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GI Registry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9AA3C0"/>
                </a:solidFill>
                <a:latin typeface="Calibri"/>
              </a:rPr>
              <a:t>craft authenticity</a:t>
            </a:r>
          </a:p>
        </p:txBody>
      </p:sp>
      <p:sp>
        <p:nvSpPr>
          <p:cNvPr id="72" name="Oval 71"/>
          <p:cNvSpPr/>
          <p:nvPr/>
        </p:nvSpPr>
        <p:spPr>
          <a:xfrm>
            <a:off x="9429292" y="5687568"/>
            <a:ext cx="274320" cy="274320"/>
          </a:xfrm>
          <a:prstGeom prst="ellipse">
            <a:avLst/>
          </a:prstGeom>
          <a:solidFill>
            <a:srgbClr val="33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ic_95267661c481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467697" y="5725972"/>
            <a:ext cx="197510" cy="19751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9795052" y="5669280"/>
            <a:ext cx="164409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PM-DAKSH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9AA3C0"/>
                </a:solidFill>
                <a:latin typeface="Calibri"/>
              </a:rPr>
              <a:t>artisan skilling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