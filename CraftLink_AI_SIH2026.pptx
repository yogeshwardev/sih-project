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hyperlink" Target="https://nbcfdc.gov.in/nbcfdc/web/tulip" TargetMode="External"/><Relationship Id="rId5" Type="http://schemas.openxmlformats.org/officeDocument/2006/relationships/hyperlink" Target="https://socialjustice.gov.in/" TargetMode="External"/><Relationship Id="rId6" Type="http://schemas.openxmlformats.org/officeDocument/2006/relationships/hyperlink" Target="https://handicrafts.nic.in/" TargetMode="External"/><Relationship Id="rId7" Type="http://schemas.openxmlformats.org/officeDocument/2006/relationships/hyperlink" Target="https://www.ibef.org/exports/handicrafts-industry-india" TargetMode="External"/><Relationship Id="rId8" Type="http://schemas.openxmlformats.org/officeDocument/2006/relationships/image" Target="../media/image25.png"/><Relationship Id="rId9" Type="http://schemas.openxmlformats.org/officeDocument/2006/relationships/hyperlink" Target="https://bhashini.gov.in/" TargetMode="External"/><Relationship Id="rId10" Type="http://schemas.openxmlformats.org/officeDocument/2006/relationships/hyperlink" Target="https://www.ondc.org/" TargetMode="External"/><Relationship Id="rId11" Type="http://schemas.openxmlformats.org/officeDocument/2006/relationships/hyperlink" Target="https://ipindia.gov.in/" TargetMode="External"/><Relationship Id="rId12" Type="http://schemas.openxmlformats.org/officeDocument/2006/relationships/hyperlink" Target="https://www.sih.gov.in/" TargetMode="External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15.png"/><Relationship Id="rId16" Type="http://schemas.openxmlformats.org/officeDocument/2006/relationships/image" Target="../media/image21.png"/><Relationship Id="rId1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0"/>
            <a:ext cx="473933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457200"/>
            <a:ext cx="243230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6928"/>
            <a:ext cx="2249424" cy="971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883664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spc="110">
                <a:solidFill>
                  <a:srgbClr val="C9921B"/>
                </a:solidFill>
                <a:latin typeface="Calibri"/>
              </a:rPr>
              <a:t>SMART INDIA HACKATHON 2026   ·   PROBLEM STATEMENT SIH26090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6309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 spc="90">
                <a:solidFill>
                  <a:srgbClr val="9AA3C0"/>
                </a:solidFill>
                <a:latin typeface="Calibri"/>
              </a:rPr>
              <a:t>PROBLEM STATEMENT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6355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FFFFFF"/>
                </a:solidFill>
                <a:latin typeface="Cambria"/>
              </a:rPr>
              <a:t>AI-Driven Market Linkage and Smart Cataloging Mobile Application for Marginalized Artisans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75887"/>
            <a:ext cx="6309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E87A3E"/>
                </a:solidFill>
                <a:latin typeface="Cambria"/>
              </a:rPr>
              <a:t>CraftLink AI</a:t>
            </a:r>
            <a:r>
              <a:rPr sz="1200" b="0" i="0">
                <a:solidFill>
                  <a:srgbClr val="9AA3C0"/>
                </a:solidFill>
                <a:latin typeface="Cambria"/>
              </a:rPr>
              <a:t>   a virtual business manager in the artisan’s pocket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1">
                <a:solidFill>
                  <a:srgbClr val="E8EBF4"/>
                </a:solidFill>
                <a:latin typeface="Cambria"/>
              </a:rPr>
              <a:t>One photo.  One spoken sentence.  A market-ready listing.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4515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0" i="0" spc="85">
                <a:solidFill>
                  <a:srgbClr val="9AA3C0"/>
                </a:solidFill>
                <a:latin typeface="Calibri"/>
              </a:rPr>
              <a:t>PROBLEM STATEMENT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18888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SIH26090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64515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0" i="0" spc="85">
                <a:solidFill>
                  <a:srgbClr val="9AA3C0"/>
                </a:solidFill>
                <a:latin typeface="Calibri"/>
              </a:rPr>
              <a:t>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4818888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Miscellaneous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0" i="0" spc="85">
                <a:solidFill>
                  <a:srgbClr val="9AA3C0"/>
                </a:solidFill>
                <a:latin typeface="Calibri"/>
              </a:rPr>
              <a:t>PS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517550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0" i="0" spc="85">
                <a:solidFill>
                  <a:srgbClr val="9AA3C0"/>
                </a:solidFill>
                <a:latin typeface="Calibri"/>
              </a:rPr>
              <a:t>TEAM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349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126401u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0585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0" i="0" spc="85">
                <a:solidFill>
                  <a:srgbClr val="9AA3C0"/>
                </a:solidFill>
                <a:latin typeface="Calibri"/>
              </a:rPr>
              <a:t>ORGANISATION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795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Ministry of Social Justice and Empowerment (MoSJE)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570585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0" i="0" spc="85">
                <a:solidFill>
                  <a:srgbClr val="9AA3C0"/>
                </a:solidFill>
                <a:latin typeface="Calibri"/>
              </a:rPr>
              <a:t>TEAM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8795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 Zero Click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82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9AA3C0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636422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200" b="1" i="0">
                <a:solidFill>
                  <a:srgbClr val="C9921B"/>
                </a:solidFill>
                <a:latin typeface="Cambri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4348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spc="20">
                <a:solidFill>
                  <a:srgbClr val="FFFFFF"/>
                </a:solidFill>
                <a:latin typeface="Calibri"/>
              </a:rPr>
              <a:t>Team Zero Click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19456"/>
            <a:ext cx="2011680" cy="9500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347472"/>
            <a:ext cx="722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1" i="0" spc="40">
                <a:solidFill>
                  <a:srgbClr val="11172E"/>
                </a:solidFill>
                <a:latin typeface="Cambria"/>
              </a:rPr>
              <a:t>IDEA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0994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9AA3C0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916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200" b="1" i="0">
                <a:solidFill>
                  <a:srgbClr val="C9921B"/>
                </a:solidFill>
                <a:latin typeface="Cambria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3246120" cy="4224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310896" cy="31089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_2e538a0b47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3" y="1415125"/>
            <a:ext cx="223845" cy="2238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1403604"/>
            <a:ext cx="2404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THE GAP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883664"/>
            <a:ext cx="28072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2900" b="1" i="0">
                <a:solidFill>
                  <a:srgbClr val="C2410C"/>
                </a:solidFill>
                <a:latin typeface="Cambria"/>
              </a:rPr>
              <a:t>7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267712"/>
            <a:ext cx="2807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392"/>
                </a:solidFill>
                <a:latin typeface="Calibri"/>
              </a:rPr>
              <a:t>artisans in India — the vast majority still outside digital commerce.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706624"/>
            <a:ext cx="28072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2900" b="1" i="0">
                <a:solidFill>
                  <a:srgbClr val="C2410C"/>
                </a:solidFill>
                <a:latin typeface="Cambria"/>
              </a:rP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090672"/>
            <a:ext cx="2807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392"/>
                </a:solidFill>
                <a:latin typeface="Calibri"/>
              </a:rPr>
              <a:t>of product value captured by middlemen when they handle the online sale.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529584"/>
            <a:ext cx="28072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2900" b="1" i="0">
                <a:solidFill>
                  <a:srgbClr val="C2410C"/>
                </a:solidFill>
                <a:latin typeface="Cambria"/>
              </a:rPr>
              <a:t>3 wks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913632"/>
            <a:ext cx="2807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392"/>
                </a:solidFill>
                <a:latin typeface="Calibri"/>
              </a:rPr>
              <a:t>of market access a year, through melas like Dilli Haat and Surajkund.</a:t>
            </a:r>
          </a:p>
        </p:txBody>
      </p:sp>
      <p:pic>
        <p:nvPicPr>
          <p:cNvPr id="20" name="Picture 19" descr="wea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389120"/>
            <a:ext cx="2807208" cy="93268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904487" y="1188720"/>
            <a:ext cx="4069080" cy="4224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05655" y="1371600"/>
            <a:ext cx="310896" cy="310896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_7b59ffcb52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181" y="1415125"/>
            <a:ext cx="223845" cy="2238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62855" y="1403604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THE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3944" y="1847088"/>
            <a:ext cx="36301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2410C"/>
                </a:solidFill>
                <a:latin typeface="Calibri"/>
              </a:rPr>
              <a:t>CraftLink AI</a:t>
            </a:r>
            <a:r>
              <a:rPr sz="1050" b="0" i="0">
                <a:solidFill>
                  <a:srgbClr val="2E3552"/>
                </a:solidFill>
                <a:latin typeface="Calibri"/>
              </a:rPr>
              <a:t> turns a product photo and one spoken sentence into a market-ready, multilingual, fairly-priced listing.</a:t>
            </a:r>
          </a:p>
        </p:txBody>
      </p:sp>
      <p:sp>
        <p:nvSpPr>
          <p:cNvPr id="26" name="Oval 25"/>
          <p:cNvSpPr/>
          <p:nvPr/>
        </p:nvSpPr>
        <p:spPr>
          <a:xfrm>
            <a:off x="4123944" y="2450592"/>
            <a:ext cx="274320" cy="274320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_7773085cdcf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348" y="2488996"/>
            <a:ext cx="197510" cy="1975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07992" y="2423160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Photo capture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950" b="0" i="0">
                <a:solidFill>
                  <a:srgbClr val="6B7392"/>
                </a:solidFill>
                <a:latin typeface="Calibri"/>
              </a:rPr>
              <a:t>Background removal, lighting correction, e-commerce framing.</a:t>
            </a:r>
          </a:p>
        </p:txBody>
      </p:sp>
      <p:sp>
        <p:nvSpPr>
          <p:cNvPr id="29" name="Oval 28"/>
          <p:cNvSpPr/>
          <p:nvPr/>
        </p:nvSpPr>
        <p:spPr>
          <a:xfrm>
            <a:off x="4123944" y="2971800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_bd848801d8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348" y="3010204"/>
            <a:ext cx="197510" cy="19751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07992" y="2944368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Voice, in any local language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950" b="0" i="0">
                <a:solidFill>
                  <a:srgbClr val="6B7392"/>
                </a:solidFill>
                <a:latin typeface="Calibri"/>
              </a:rPr>
              <a:t>Whisper speech-to-text, running offline — no typing, no English.</a:t>
            </a:r>
          </a:p>
        </p:txBody>
      </p:sp>
      <p:sp>
        <p:nvSpPr>
          <p:cNvPr id="32" name="Oval 31"/>
          <p:cNvSpPr/>
          <p:nvPr/>
        </p:nvSpPr>
        <p:spPr>
          <a:xfrm>
            <a:off x="4123944" y="3493008"/>
            <a:ext cx="274320" cy="2743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_b1a58ef068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348" y="3531412"/>
            <a:ext cx="197510" cy="19751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07992" y="3465576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AI cataloging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950" b="0" i="0">
                <a:solidFill>
                  <a:srgbClr val="6B7392"/>
                </a:solidFill>
                <a:latin typeface="Calibri"/>
              </a:rPr>
              <a:t>SEO title, description, category and keywords.</a:t>
            </a:r>
          </a:p>
        </p:txBody>
      </p:sp>
      <p:sp>
        <p:nvSpPr>
          <p:cNvPr id="35" name="Oval 34"/>
          <p:cNvSpPr/>
          <p:nvPr/>
        </p:nvSpPr>
        <p:spPr>
          <a:xfrm>
            <a:off x="4123944" y="4014216"/>
            <a:ext cx="274320" cy="274320"/>
          </a:xfrm>
          <a:prstGeom prst="ellipse">
            <a:avLst/>
          </a:prstGeom>
          <a:solidFill>
            <a:srgbClr val="C99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3c81c2ea74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2348" y="4052620"/>
            <a:ext cx="197510" cy="19751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507992" y="3986784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Explained price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950" b="0" i="0">
                <a:solidFill>
                  <a:srgbClr val="6B7392"/>
                </a:solidFill>
                <a:latin typeface="Calibri"/>
              </a:rPr>
              <a:t>Materials, labour, market bands and signals read from the photo and description.</a:t>
            </a:r>
          </a:p>
        </p:txBody>
      </p:sp>
      <p:sp>
        <p:nvSpPr>
          <p:cNvPr id="38" name="Oval 37"/>
          <p:cNvSpPr/>
          <p:nvPr/>
        </p:nvSpPr>
        <p:spPr>
          <a:xfrm>
            <a:off x="4123944" y="4535424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c_2f16aae5ae6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2348" y="4573828"/>
            <a:ext cx="197510" cy="1975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07992" y="4507992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Market linkage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950" b="0" i="0">
                <a:solidFill>
                  <a:srgbClr val="6B7392"/>
                </a:solidFill>
                <a:latin typeface="Calibri"/>
              </a:rPr>
              <a:t>ONDC/GeM-ready fields; bulk buyers enquire and the artisan quotes back in-app.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23944" y="5102352"/>
            <a:ext cx="363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1">
                <a:solidFill>
                  <a:srgbClr val="0F766E"/>
                </a:solidFill>
                <a:latin typeface="Calibri"/>
              </a:rPr>
              <a:t>Human-in-the-loop: nothing publishes until the artisan approves the words and the price.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74736" y="1188720"/>
            <a:ext cx="3557016" cy="4224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75904" y="1371600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_e5662189d61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9429" y="1415125"/>
            <a:ext cx="223845" cy="22384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33104" y="1403604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1883664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No professional photos</a:t>
            </a:r>
          </a:p>
          <a:p>
            <a:pPr algn="l">
              <a:lnSpc>
                <a:spcPct val="98000"/>
              </a:lnSpc>
              <a:spcBef>
                <a:spcPts val="100"/>
              </a:spcBef>
            </a:pPr>
            <a:r>
              <a:rPr sz="1000" b="0" i="0">
                <a:solidFill>
                  <a:srgbClr val="0F766E"/>
                </a:solidFill>
                <a:latin typeface="Calibri"/>
              </a:rPr>
              <a:t>→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AI removes clutter, fixes lighting and formats to e-commerce standards.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2505456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No English, low digital literacy</a:t>
            </a:r>
          </a:p>
          <a:p>
            <a:pPr algn="l">
              <a:lnSpc>
                <a:spcPct val="98000"/>
              </a:lnSpc>
              <a:spcBef>
                <a:spcPts val="100"/>
              </a:spcBef>
            </a:pPr>
            <a:r>
              <a:rPr sz="1000" b="0" i="0">
                <a:solidFill>
                  <a:srgbClr val="0F766E"/>
                </a:solidFill>
                <a:latin typeface="Calibri"/>
              </a:rPr>
              <a:t>→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Local-language voice notes become SEO-ready descriptions.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3127248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No pricing knowledge</a:t>
            </a:r>
          </a:p>
          <a:p>
            <a:pPr algn="l">
              <a:lnSpc>
                <a:spcPct val="98000"/>
              </a:lnSpc>
              <a:spcBef>
                <a:spcPts val="100"/>
              </a:spcBef>
            </a:pPr>
            <a:r>
              <a:rPr sz="1000" b="0" i="0">
                <a:solidFill>
                  <a:srgbClr val="0F766E"/>
                </a:solidFill>
                <a:latin typeface="Calibri"/>
              </a:rPr>
              <a:t>→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ML proposes a price from materials, labour and market trends — with reasons.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3749039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Only seasonal melas</a:t>
            </a:r>
          </a:p>
          <a:p>
            <a:pPr algn="l">
              <a:lnSpc>
                <a:spcPct val="98000"/>
              </a:lnSpc>
              <a:spcBef>
                <a:spcPts val="100"/>
              </a:spcBef>
            </a:pPr>
            <a:r>
              <a:rPr sz="1000" b="0" i="0">
                <a:solidFill>
                  <a:srgbClr val="0F766E"/>
                </a:solidFill>
                <a:latin typeface="Calibri"/>
              </a:rPr>
              <a:t>→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A 365-day storefront replaces a few exhibition weeks a year.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370832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C2410C"/>
                </a:solidFill>
                <a:latin typeface="Calibri"/>
              </a:rPr>
              <a:t>Middlemen take the margin</a:t>
            </a:r>
          </a:p>
          <a:p>
            <a:pPr algn="l">
              <a:lnSpc>
                <a:spcPct val="98000"/>
              </a:lnSpc>
              <a:spcBef>
                <a:spcPts val="100"/>
              </a:spcBef>
            </a:pPr>
            <a:r>
              <a:rPr sz="1000" b="0" i="0">
                <a:solidFill>
                  <a:srgbClr val="0F766E"/>
                </a:solidFill>
                <a:latin typeface="Calibri"/>
              </a:rPr>
              <a:t>→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Direct artisan-to-buyer linkage through ONDC and Bharat-TULIP.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541264"/>
            <a:ext cx="11274552" cy="621792"/>
          </a:xfrm>
          <a:prstGeom prst="roundRect">
            <a:avLst>
              <a:gd name="adj" fmla="val 8000"/>
            </a:avLst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56418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C9921B"/>
                </a:solidFill>
                <a:latin typeface="Calibri"/>
              </a:rPr>
              <a:t>UNIQUE VALUE</a:t>
            </a:r>
          </a:p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C9921B"/>
                </a:solidFill>
                <a:latin typeface="Calibri"/>
              </a:rPr>
              <a:t>PROPOSITION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5660136"/>
            <a:ext cx="8439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E87A3E"/>
                </a:solidFill>
                <a:latin typeface="Calibri"/>
              </a:rPr>
              <a:t>Not another marketplace</a:t>
            </a:r>
            <a:r>
              <a:rPr sz="1050" b="0" i="0">
                <a:solidFill>
                  <a:srgbClr val="E8EBF4"/>
                </a:solidFill>
                <a:latin typeface="Calibri"/>
              </a:rPr>
              <a:t> — an AI co-seller that does the photography, copywriting and pricing an artisan cannot, then hands the finished listing to the rails that already exist: ONDC and MoSJE’s Bharat-TULIP.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4348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spc="20">
                <a:solidFill>
                  <a:srgbClr val="FFFFFF"/>
                </a:solidFill>
                <a:latin typeface="Calibri"/>
              </a:rPr>
              <a:t>Team Zero Click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19456"/>
            <a:ext cx="2011680" cy="9500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347472"/>
            <a:ext cx="722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1" i="0" spc="40">
                <a:solidFill>
                  <a:srgbClr val="11172E"/>
                </a:solidFill>
                <a:latin typeface="Cambria"/>
              </a:rPr>
              <a:t>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0994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9AA3C0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916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200" b="1" i="0">
                <a:solidFill>
                  <a:srgbClr val="C9921B"/>
                </a:solidFill>
                <a:latin typeface="Cambria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2788920" cy="50109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310896" cy="310896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_a36d2d3072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3" y="1415125"/>
            <a:ext cx="223845" cy="2238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1403604"/>
            <a:ext cx="19476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TECHNOLOGY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847088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 spc="70">
                <a:solidFill>
                  <a:srgbClr val="0F766E"/>
                </a:solidFill>
                <a:latin typeface="Calibri"/>
              </a:rPr>
              <a:t>AI &amp;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061972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Computer vision — rembg / U²-Net, 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249424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Speech-to-text — faster-whisper (offline)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436876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NLLB-200 — offline translation, 9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624328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Scikit-learn — price band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967228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 spc="70">
                <a:solidFill>
                  <a:srgbClr val="C2410C"/>
                </a:solidFill>
                <a:latin typeface="Calibr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182112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React + Vite + Tailwind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369564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Installable PWA + Android APK (Capacitor)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712464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 spc="70">
                <a:solidFill>
                  <a:srgbClr val="334482"/>
                </a:solidFill>
                <a:latin typeface="Calibri"/>
              </a:rPr>
              <a:t>BACKEND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927348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Python + 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114800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SQLite / PostgreSQL + SQLAlchemy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57700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 i="0" spc="70">
                <a:solidFill>
                  <a:srgbClr val="C9921B"/>
                </a:solidFill>
                <a:latin typeface="Calibri"/>
              </a:rPr>
              <a:t>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672584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ONDC/GeM-ready catalogue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4860036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In-app B2B bulk-quote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5047488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REST + JSON · .env secrets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68112"/>
            <a:ext cx="2423160" cy="566928"/>
          </a:xfrm>
          <a:prstGeom prst="roundRect">
            <a:avLst>
              <a:gd name="adj" fmla="val 12000"/>
            </a:avLst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568696"/>
            <a:ext cx="2167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766E"/>
                </a:solidFill>
                <a:latin typeface="Calibri"/>
              </a:rPr>
              <a:t>Build status:  photo → voice → 9-language listing → price → order → bulk quote, offline, today.</a:t>
            </a:r>
            <a:r>
              <a:rPr sz="900" b="0" i="0">
                <a:solidFill>
                  <a:srgbClr val="2E3552"/>
                </a:solidFill>
                <a:latin typeface="Calibr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1188720"/>
            <a:ext cx="1536192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57016" y="1316736"/>
            <a:ext cx="274320" cy="274320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7016" y="13761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1682496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5">
                <a:solidFill>
                  <a:srgbClr val="1E2A5A"/>
                </a:solidFill>
                <a:latin typeface="Calibri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20848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Product photo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226771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Voice note in 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245059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local language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988052" y="1993392"/>
            <a:ext cx="109728" cy="128016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20640" y="1188720"/>
            <a:ext cx="1536192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48655" y="1316736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48655" y="13761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1682496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5">
                <a:solidFill>
                  <a:srgbClr val="334482"/>
                </a:solidFill>
                <a:latin typeface="Calibri"/>
              </a:rPr>
              <a:t>AI UNDERSTANDING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0368" y="20848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Image clean-up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0368" y="226771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Speech-to-text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0368" y="245059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Translation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679692" y="1993392"/>
            <a:ext cx="109728" cy="128016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12279" y="1188720"/>
            <a:ext cx="1536192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40295" y="1316736"/>
            <a:ext cx="274320" cy="2743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0295" y="13761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22007" y="1682496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5">
                <a:solidFill>
                  <a:srgbClr val="0F766E"/>
                </a:solidFill>
                <a:latin typeface="Calibri"/>
              </a:rPr>
              <a:t>PRODUCT INTELLIGENCE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2007" y="20848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Attribute extraction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2007" y="226771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Listing copy, 9 languages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22007" y="245059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Category &amp; keywords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371331" y="1993392"/>
            <a:ext cx="109728" cy="128016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503920" y="1188720"/>
            <a:ext cx="1536192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631936" y="1316736"/>
            <a:ext cx="274320" cy="274320"/>
          </a:xfrm>
          <a:prstGeom prst="ellipse">
            <a:avLst/>
          </a:prstGeom>
          <a:solidFill>
            <a:srgbClr val="C99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31936" y="13761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13648" y="1682496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5">
                <a:solidFill>
                  <a:srgbClr val="C9921B"/>
                </a:solidFill>
                <a:latin typeface="Calibri"/>
              </a:rPr>
              <a:t>MARKET INTELLIGENCE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13648" y="20848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Explained 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226771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Demand signals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3648" y="245059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Buyer matching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10062972" y="1993392"/>
            <a:ext cx="109728" cy="128016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195559" y="1188720"/>
            <a:ext cx="1536192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323576" y="1316736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23576" y="13761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05287" y="1682496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5">
                <a:solidFill>
                  <a:srgbClr val="C2410C"/>
                </a:solidFill>
                <a:latin typeface="Calibri"/>
              </a:rPr>
              <a:t>MOBILE + WEB OUTPUT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05287" y="20848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Artisan app + 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05287" y="226771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ONDC / Bharat-TULIP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05287" y="245059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E3552"/>
                </a:solidFill>
                <a:latin typeface="Calibri"/>
              </a:rPr>
              <a:t>publish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29000" y="3108960"/>
            <a:ext cx="8302752" cy="457200"/>
          </a:xfrm>
          <a:prstGeom prst="roundRect">
            <a:avLst>
              <a:gd name="adj" fmla="val 14000"/>
            </a:avLst>
          </a:prstGeom>
          <a:solidFill>
            <a:srgbClr val="E9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593592" y="3191256"/>
            <a:ext cx="292608" cy="292608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c_a36d2d3072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557" y="3232221"/>
            <a:ext cx="210677" cy="21067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995928" y="3200400"/>
            <a:ext cx="7571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A5A"/>
                </a:solidFill>
                <a:latin typeface="Calibri"/>
              </a:rPr>
              <a:t>FASTAPI / REST API</a:t>
            </a:r>
            <a:r>
              <a:rPr sz="950" b="0" i="0">
                <a:solidFill>
                  <a:srgbClr val="6B7392"/>
                </a:solidFill>
                <a:latin typeface="Calibri"/>
              </a:rPr>
              <a:t>     request handling  ·  business logic  ·  orchestration  ·  auth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429000" y="3694176"/>
            <a:ext cx="197967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57016" y="3840480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c_b241be25d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420" y="3878884"/>
            <a:ext cx="197510" cy="19751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922776" y="3822191"/>
            <a:ext cx="13761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0">
                <a:solidFill>
                  <a:srgbClr val="11172E"/>
                </a:solidFill>
                <a:latin typeface="Calibri"/>
              </a:rPr>
              <a:t>ARTISAN DATA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392"/>
                </a:solidFill>
                <a:latin typeface="Calibri"/>
              </a:rPr>
              <a:t>profiles, skills, clusters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536692" y="3694176"/>
            <a:ext cx="197967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664707" y="3840480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c_b241be25d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112" y="3878884"/>
            <a:ext cx="197510" cy="19751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030468" y="3822191"/>
            <a:ext cx="13761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0">
                <a:solidFill>
                  <a:srgbClr val="11172E"/>
                </a:solidFill>
                <a:latin typeface="Calibri"/>
              </a:rPr>
              <a:t>PRODUCT DATA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392"/>
                </a:solidFill>
                <a:latin typeface="Calibri"/>
              </a:rPr>
              <a:t>images, details, categories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644383" y="3694176"/>
            <a:ext cx="197967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772400" y="3840480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c_b241be25d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804" y="3878884"/>
            <a:ext cx="197510" cy="19751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38159" y="3822191"/>
            <a:ext cx="13761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0">
                <a:solidFill>
                  <a:srgbClr val="11172E"/>
                </a:solidFill>
                <a:latin typeface="Calibri"/>
              </a:rPr>
              <a:t>MARKET DATA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392"/>
                </a:solidFill>
                <a:latin typeface="Calibri"/>
              </a:rPr>
              <a:t>trends, prices, demand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752076" y="3694176"/>
            <a:ext cx="197967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880092" y="3840480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c_b241be25d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496" y="3878884"/>
            <a:ext cx="197510" cy="19751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245852" y="3822191"/>
            <a:ext cx="13761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30">
                <a:solidFill>
                  <a:srgbClr val="11172E"/>
                </a:solidFill>
                <a:latin typeface="Calibri"/>
              </a:rPr>
              <a:t>BUYER DATA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392"/>
                </a:solidFill>
                <a:latin typeface="Calibri"/>
              </a:rPr>
              <a:t>preferences, history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429000" y="4517136"/>
            <a:ext cx="4846320" cy="16824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630168" y="4700016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ic_69fb847077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693" y="4743541"/>
            <a:ext cx="223845" cy="223845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4087368" y="4732020"/>
            <a:ext cx="4005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HOW IT DELIVERS VALUE</a:t>
            </a:r>
          </a:p>
        </p:txBody>
      </p:sp>
      <p:sp>
        <p:nvSpPr>
          <p:cNvPr id="94" name="Oval 93"/>
          <p:cNvSpPr/>
          <p:nvPr/>
        </p:nvSpPr>
        <p:spPr>
          <a:xfrm>
            <a:off x="3891686" y="5303520"/>
            <a:ext cx="292608" cy="292608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ic_bd848801d8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2651" y="5344485"/>
            <a:ext cx="210677" cy="210677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3648456" y="5669280"/>
            <a:ext cx="7790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Artisan speaks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4441240" y="5394960"/>
            <a:ext cx="100584" cy="109728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98771" y="5303520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ic_b1a58ef068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736" y="5344485"/>
            <a:ext cx="210677" cy="210677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4555540" y="5669280"/>
            <a:ext cx="7790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AI builds listing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5348325" y="5394960"/>
            <a:ext cx="100584" cy="109728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705856" y="5303520"/>
            <a:ext cx="292608" cy="292608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c_1d820f080bb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6821" y="5344485"/>
            <a:ext cx="210677" cy="21067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5462625" y="5669280"/>
            <a:ext cx="7790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Priced &amp; published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6255410" y="5394960"/>
            <a:ext cx="100584" cy="109728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612940" y="5303520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ic_bb06f8e5eda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3905" y="5344485"/>
            <a:ext cx="210677" cy="210677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6369710" y="5669280"/>
            <a:ext cx="7790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Buyer matched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7162495" y="5394960"/>
            <a:ext cx="100584" cy="109728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520025" y="5303520"/>
            <a:ext cx="292608" cy="292608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ic_47ece8f0409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0990" y="5344485"/>
            <a:ext cx="210677" cy="21067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276795" y="5669280"/>
            <a:ext cx="7790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Income rises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403336" y="4517136"/>
            <a:ext cx="3328416" cy="16824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604504" y="4700016"/>
            <a:ext cx="310896" cy="31089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ic_588afbfcb35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8029" y="4743541"/>
            <a:ext cx="223845" cy="223845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9061704" y="473202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CORE INNOVATION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22792" y="5175504"/>
            <a:ext cx="28895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One pipeline, craft to commerce.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A photo and a spoken sentence become a priced, multilingual, ONDC-ready listing — with the artisan in control at every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4348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spc="20">
                <a:solidFill>
                  <a:srgbClr val="FFFFFF"/>
                </a:solidFill>
                <a:latin typeface="Calibri"/>
              </a:rPr>
              <a:t>Team Zero Click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19456"/>
            <a:ext cx="2011680" cy="9500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347472"/>
            <a:ext cx="722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1" i="0" spc="40">
                <a:solidFill>
                  <a:srgbClr val="11172E"/>
                </a:solidFill>
                <a:latin typeface="Cambria"/>
              </a:rPr>
              <a:t>FEASIBILITY AND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0994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9AA3C0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916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200" b="1" i="0">
                <a:solidFill>
                  <a:srgbClr val="C9921B"/>
                </a:solidFill>
                <a:latin typeface="Cambria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3642055" cy="23957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310896" cy="310896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_a36d2d3072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3" y="1415125"/>
            <a:ext cx="223845" cy="2238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1403604"/>
            <a:ext cx="2800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TECHNICAL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38528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AI integration  Vision, Whisper ASR, NLLB-200 and ML automate clean-up, copy and pricing.</a:t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331720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Mobile-first delivery  React + FastAPI, shipped as an Android APK and an offline-capable PWA.</a:t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724912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Multilingual by default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Voice input removes typing and digital-literacy barriers.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18104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Proven stack  Every component is open-source and already running in our build.</a:t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2991" y="1188720"/>
            <a:ext cx="3642055" cy="23957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4159" y="1371600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7c9a25f832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684" y="1415125"/>
            <a:ext cx="223845" cy="2238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31359" y="1403604"/>
            <a:ext cx="2800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OPERATIONAL 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447" y="1938528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Four taps to sell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Open → photograph → speak → approve. No forms, no English.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447" y="2331720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Works on a shared phone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Entry-level Android; listings queue and sync when signal returns.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2447" y="2724912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Cluster-led rollout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Onboard through existing artisan clusters and MoSJE corporations.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2447" y="3118104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Artisan stays in control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Every AI output is reviewed and editable before publishing.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8782" y="1188720"/>
            <a:ext cx="3642055" cy="23957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9950" y="1371600"/>
            <a:ext cx="310896" cy="310896"/>
          </a:xfrm>
          <a:prstGeom prst="ellipse">
            <a:avLst/>
          </a:prstGeom>
          <a:solidFill>
            <a:srgbClr val="C99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_78d2bf3903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3475" y="1415125"/>
            <a:ext cx="223845" cy="22384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47150" y="1403604"/>
            <a:ext cx="2800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ECONOMIC VIABILITY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8238" y="1938528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Zero cost to the artisan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No listing fee, no commission — the margin stays with the maker.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238" y="2331720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Low-cost to operate  Every model runs offline on our own server; no per-call API bill.</a:t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8238" y="2724912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Publicly fundable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Fits NSFDC / NBCFDC / NSKFDC and CSR funding routes.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8238" y="3118104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Scales without rebuild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New languages, crafts and markets are configuration, not code.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758184"/>
            <a:ext cx="3642055" cy="2441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8368" y="3941064"/>
            <a:ext cx="310896" cy="31089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2e538a0b47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93" y="3984589"/>
            <a:ext cx="223845" cy="22384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15568" y="3973068"/>
            <a:ext cx="2800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CHALLENGES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4507992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Image quality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Dim, cluttered phone photos reduce segmentation accuracy.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4901184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Voice &amp; dialect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Accent and dialect variation degrades transcription.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5294376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AI reliability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Generated copy can misdescribe a craft or its provenance.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5687568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Thin market data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Sparse comparables weaken any pricing signal.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2991" y="3758184"/>
            <a:ext cx="3642055" cy="2441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74159" y="3941064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_b99de44a713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684" y="3984589"/>
            <a:ext cx="223845" cy="22384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931359" y="3973068"/>
            <a:ext cx="2800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MITIGATION STRATEGIES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2447" y="4507992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Guided capture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On-screen framing hints plus automatic enhancement before inference.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2447" y="4901184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Two-pass ASR  A fast Whisper pass, with a large-v3 re-run whenever confidence drops.</a:t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2447" y="5294376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Artisan approval gate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Nothing publishes unreviewed; corrections retrain the prompts.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2447" y="5687568"/>
            <a:ext cx="32031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1172E"/>
                </a:solidFill>
                <a:latin typeface="Calibri"/>
              </a:rPr>
              <a:t>Evidence-labelled pricing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Show the basis for every number; never invent a comparable.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88782" y="3758184"/>
            <a:ext cx="3642055" cy="2441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89950" y="3941064"/>
            <a:ext cx="310896" cy="310896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c_16fd8583ca5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3475" y="3984589"/>
            <a:ext cx="223845" cy="22384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747150" y="3973068"/>
            <a:ext cx="2800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DELIVERY ROADMAP</a:t>
            </a:r>
          </a:p>
        </p:txBody>
      </p:sp>
      <p:sp>
        <p:nvSpPr>
          <p:cNvPr id="54" name="Oval 53"/>
          <p:cNvSpPr/>
          <p:nvPr/>
        </p:nvSpPr>
        <p:spPr>
          <a:xfrm>
            <a:off x="8326526" y="457657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5982" y="4507992"/>
            <a:ext cx="2947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70">
                <a:solidFill>
                  <a:srgbClr val="0F766E"/>
                </a:solidFill>
                <a:latin typeface="Calibri"/>
              </a:rPr>
              <a:t>NOW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Photo → voice → 9-language listing → price → order → bulk quote, end to end.</a:t>
            </a:r>
          </a:p>
        </p:txBody>
      </p:sp>
      <p:sp>
        <p:nvSpPr>
          <p:cNvPr id="56" name="Oval 55"/>
          <p:cNvSpPr/>
          <p:nvPr/>
        </p:nvSpPr>
        <p:spPr>
          <a:xfrm>
            <a:off x="8326526" y="4988052"/>
            <a:ext cx="100584" cy="10058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5982" y="4919472"/>
            <a:ext cx="2947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70">
                <a:solidFill>
                  <a:srgbClr val="1E2A5A"/>
                </a:solidFill>
                <a:latin typeface="Calibri"/>
              </a:rPr>
              <a:t>0–3 MONTHS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Cluster pilot on the Android APK — 9 languages, offline.</a:t>
            </a:r>
          </a:p>
        </p:txBody>
      </p:sp>
      <p:sp>
        <p:nvSpPr>
          <p:cNvPr id="58" name="Oval 57"/>
          <p:cNvSpPr/>
          <p:nvPr/>
        </p:nvSpPr>
        <p:spPr>
          <a:xfrm>
            <a:off x="8326526" y="5399532"/>
            <a:ext cx="100584" cy="100584"/>
          </a:xfrm>
          <a:prstGeom prst="ellipse">
            <a:avLst/>
          </a:prstGeom>
          <a:solidFill>
            <a:srgbClr val="C99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5982" y="5330952"/>
            <a:ext cx="2947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70">
                <a:solidFill>
                  <a:srgbClr val="C9921B"/>
                </a:solidFill>
                <a:latin typeface="Calibri"/>
              </a:rPr>
              <a:t>3–9 MONTHS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Bhashini APIs for the remaining scheduled languages; certified ONDC onboarding.</a:t>
            </a:r>
          </a:p>
        </p:txBody>
      </p:sp>
      <p:sp>
        <p:nvSpPr>
          <p:cNvPr id="60" name="Oval 59"/>
          <p:cNvSpPr/>
          <p:nvPr/>
        </p:nvSpPr>
        <p:spPr>
          <a:xfrm>
            <a:off x="8326526" y="5811012"/>
            <a:ext cx="100584" cy="10058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5982" y="5742432"/>
            <a:ext cx="2947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70">
                <a:solidFill>
                  <a:srgbClr val="C2410C"/>
                </a:solidFill>
                <a:latin typeface="Calibri"/>
              </a:rPr>
              <a:t>9–18 MONTHS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E3552"/>
                </a:solidFill>
                <a:latin typeface="Calibri"/>
              </a:rPr>
              <a:t>Scale via NSFDC, NBCFDC and NSKFDC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4348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spc="20">
                <a:solidFill>
                  <a:srgbClr val="FFFFFF"/>
                </a:solidFill>
                <a:latin typeface="Calibri"/>
              </a:rPr>
              <a:t>Team Zero Click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19456"/>
            <a:ext cx="2011680" cy="9500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347472"/>
            <a:ext cx="722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1" i="0" spc="40">
                <a:solidFill>
                  <a:srgbClr val="11172E"/>
                </a:solidFill>
                <a:latin typeface="Cambria"/>
              </a:rPr>
              <a:t>IMPACT AND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0994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9AA3C0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916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200" b="1" i="0">
                <a:solidFill>
                  <a:srgbClr val="C9921B"/>
                </a:solidFill>
                <a:latin typeface="Cambria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2688336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4416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800" b="1" i="0">
                <a:solidFill>
                  <a:srgbClr val="C2410C"/>
                </a:solidFill>
                <a:latin typeface="Cambria"/>
              </a:rPr>
              <a:t>7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392"/>
                </a:solidFill>
                <a:latin typeface="Calibri"/>
              </a:rPr>
              <a:t>artisans addressable across India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188720"/>
            <a:ext cx="2688336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34416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800" b="1" i="0">
                <a:solidFill>
                  <a:srgbClr val="1E2A5A"/>
                </a:solidFill>
                <a:latin typeface="Cambria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9222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392"/>
                </a:solidFill>
                <a:latin typeface="Calibri"/>
              </a:rPr>
              <a:t>of value today lost to middlemen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188720"/>
            <a:ext cx="2688336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34416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800" b="1" i="0">
                <a:solidFill>
                  <a:srgbClr val="0F766E"/>
                </a:solidFill>
                <a:latin typeface="Cambria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79222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392"/>
                </a:solidFill>
                <a:latin typeface="Calibri"/>
              </a:rPr>
              <a:t>Indian languages in the app 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6" y="1188720"/>
            <a:ext cx="2688336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34416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800" b="1" i="0">
                <a:solidFill>
                  <a:srgbClr val="C9921B"/>
                </a:solidFill>
                <a:latin typeface="Cambria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179222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392"/>
                </a:solidFill>
                <a:latin typeface="Calibri"/>
              </a:rPr>
              <a:t>commission taken from the artisan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395728"/>
            <a:ext cx="5349240" cy="38039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2578608"/>
            <a:ext cx="310896" cy="310896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b06f8e5ed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3" y="2622133"/>
            <a:ext cx="223845" cy="22384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5568" y="2610612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IMPACT ON STAKEHOLDERS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" y="3099815"/>
            <a:ext cx="109728" cy="10972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026664"/>
            <a:ext cx="46360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MoSJE beneficiary artisans</a:t>
            </a:r>
            <a:r>
              <a:rPr sz="850" b="0" i="0">
                <a:solidFill>
                  <a:srgbClr val="C2410C"/>
                </a:solidFill>
                <a:latin typeface="Calibri"/>
              </a:rPr>
              <a:t>   SC, OBC, DNT, Safai Karamcharis and PwD makers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 i="0">
                <a:solidFill>
                  <a:srgbClr val="2E3552"/>
                </a:solidFill>
                <a:latin typeface="Calibri"/>
              </a:rPr>
              <a:t>Year-round digital market access without English, a camera or digital skills.</a:t>
            </a:r>
          </a:p>
        </p:txBody>
      </p:sp>
      <p:sp>
        <p:nvSpPr>
          <p:cNvPr id="28" name="Oval 27"/>
          <p:cNvSpPr/>
          <p:nvPr/>
        </p:nvSpPr>
        <p:spPr>
          <a:xfrm>
            <a:off x="694944" y="3886200"/>
            <a:ext cx="109728" cy="109728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813048"/>
            <a:ext cx="46360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Buyers and customers</a:t>
            </a:r>
            <a:r>
              <a:rPr sz="850" b="0" i="0">
                <a:solidFill>
                  <a:srgbClr val="1E2A5A"/>
                </a:solidFill>
                <a:latin typeface="Calibri"/>
              </a:rPr>
              <a:t>   retail and institutional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 i="0">
                <a:solidFill>
                  <a:srgbClr val="2E3552"/>
                </a:solidFill>
                <a:latin typeface="Calibri"/>
              </a:rPr>
              <a:t>Authentic, discoverable crafts with GI-aware categories and pricing they can see the basis for.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" y="4672584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599432"/>
            <a:ext cx="46360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Artisan communities and clusters</a:t>
            </a:r>
            <a:r>
              <a:rPr sz="850" b="0" i="0">
                <a:solidFill>
                  <a:srgbClr val="0F766E"/>
                </a:solidFill>
                <a:latin typeface="Calibri"/>
              </a:rPr>
              <a:t>   across 455 craft categories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 i="0">
                <a:solidFill>
                  <a:srgbClr val="2E3552"/>
                </a:solidFill>
                <a:latin typeface="Calibri"/>
              </a:rPr>
              <a:t>Traditional skills gain visibility and commercial value without leaving the village.</a:t>
            </a:r>
          </a:p>
        </p:txBody>
      </p:sp>
      <p:sp>
        <p:nvSpPr>
          <p:cNvPr id="32" name="Oval 31"/>
          <p:cNvSpPr/>
          <p:nvPr/>
        </p:nvSpPr>
        <p:spPr>
          <a:xfrm>
            <a:off x="694944" y="5458968"/>
            <a:ext cx="109728" cy="109728"/>
          </a:xfrm>
          <a:prstGeom prst="ellipse">
            <a:avLst/>
          </a:prstGeom>
          <a:solidFill>
            <a:srgbClr val="C99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385816"/>
            <a:ext cx="46360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1172E"/>
                </a:solidFill>
                <a:latin typeface="Calibri"/>
              </a:rPr>
              <a:t>MoSJE and its corporations</a:t>
            </a:r>
            <a:r>
              <a:rPr sz="850" b="0" i="0">
                <a:solidFill>
                  <a:srgbClr val="C9921B"/>
                </a:solidFill>
                <a:latin typeface="Calibri"/>
              </a:rPr>
              <a:t>   NSFDC · NBCFDC · NSKFDC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 i="0">
                <a:solidFill>
                  <a:srgbClr val="2E3552"/>
                </a:solidFill>
                <a:latin typeface="Calibri"/>
              </a:rPr>
              <a:t>A measurable, always-on digital channel that extends Bharat-TULIP beyond seasonal melas.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0176" y="2395728"/>
            <a:ext cx="5751576" cy="23957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81344" y="2578608"/>
            <a:ext cx="310896" cy="310896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2f16aae5a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869" y="2622133"/>
            <a:ext cx="223845" cy="22384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38544" y="2610612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BENEFITS OF OUR 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3072384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2410C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11172E"/>
                </a:solidFill>
                <a:latin typeface="Calibri"/>
              </a:rPr>
              <a:t>Higher market reach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A 365-day storefront replaces a few exhibition weeks a year.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3396996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2410C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11172E"/>
                </a:solidFill>
                <a:latin typeface="Calibri"/>
              </a:rPr>
              <a:t>Better earning potential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Direct linkage returns the margin that middlemen take today.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3721608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2410C"/>
                </a:solidFill>
                <a:latin typeface="Calibri"/>
              </a:rPr>
              <a:t>▪  Language-inclusive commerce  Voice, screen and listings in 9 Indian languages, offline.</a:t>
            </a:r>
            <a:r>
              <a:rPr sz="1000" b="1" i="0">
                <a:solidFill>
                  <a:srgbClr val="11172E"/>
                </a:solidFill>
                <a:latin typeface="Calibri"/>
              </a:rPr>
              <a:t/>
            </a:r>
            <a:r>
              <a:rPr sz="950" b="0" i="0">
                <a:solidFill>
                  <a:srgbClr val="2E3552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4046220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2410C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11172E"/>
                </a:solidFill>
                <a:latin typeface="Calibri"/>
              </a:rPr>
              <a:t>Faster onboarding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Photo and voice replace a day of English form-filling.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370832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2410C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11172E"/>
                </a:solidFill>
                <a:latin typeface="Calibri"/>
              </a:rPr>
              <a:t>Smarter matching</a:t>
            </a:r>
            <a:r>
              <a:rPr sz="950" b="0" i="0">
                <a:solidFill>
                  <a:srgbClr val="2E3552"/>
                </a:solidFill>
                <a:latin typeface="Calibri"/>
              </a:rPr>
              <a:t>  Categories, GI tags and demand trends drive buyer discovery.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0176" y="4965192"/>
            <a:ext cx="5751576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81344" y="51480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c_69fb847077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869" y="5191597"/>
            <a:ext cx="223845" cy="22384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38544" y="5180076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REAL-WORLD OUTCOME</a:t>
            </a:r>
          </a:p>
        </p:txBody>
      </p:sp>
      <p:sp>
        <p:nvSpPr>
          <p:cNvPr id="47" name="Oval 46"/>
          <p:cNvSpPr/>
          <p:nvPr/>
        </p:nvSpPr>
        <p:spPr>
          <a:xfrm>
            <a:off x="6549847" y="5541264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c_2f16aae5a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5579668"/>
            <a:ext cx="197510" cy="19751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199632" y="5870448"/>
            <a:ext cx="9747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More visibility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178954" y="5632704"/>
            <a:ext cx="91440" cy="100584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34325" y="5541264"/>
            <a:ext cx="274320" cy="274320"/>
          </a:xfrm>
          <a:prstGeom prst="ellipse">
            <a:avLst/>
          </a:prstGeom>
          <a:solidFill>
            <a:srgbClr val="C99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c_78d2bf3903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2730" y="5579668"/>
            <a:ext cx="197510" cy="1975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284110" y="5870448"/>
            <a:ext cx="9747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Higher income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263432" y="5632704"/>
            <a:ext cx="91440" cy="100584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718804" y="5541264"/>
            <a:ext cx="274320" cy="2743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c_47ece8f040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7208" y="5579668"/>
            <a:ext cx="197510" cy="19751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368588" y="5870448"/>
            <a:ext cx="9747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Business growth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347911" y="5632704"/>
            <a:ext cx="91440" cy="100584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803282" y="5541264"/>
            <a:ext cx="274320" cy="274320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_bb06f8e5ed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5579668"/>
            <a:ext cx="197510" cy="19751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453067" y="5870448"/>
            <a:ext cx="9747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Stronger clusters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10432389" y="5632704"/>
            <a:ext cx="91440" cy="100584"/>
          </a:xfrm>
          <a:prstGeom prst="rightArrow">
            <a:avLst/>
          </a:prstGeom>
          <a:solidFill>
            <a:srgbClr val="C2C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887760" y="5541264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c_95267661c48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6165" y="5579668"/>
            <a:ext cx="197510" cy="19751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537545" y="5870448"/>
            <a:ext cx="9747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2E3552"/>
                </a:solidFill>
                <a:latin typeface="Calibri"/>
              </a:rPr>
              <a:t>Skills preserved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4348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spc="20">
                <a:solidFill>
                  <a:srgbClr val="FFFFFF"/>
                </a:solidFill>
                <a:latin typeface="Calibri"/>
              </a:rPr>
              <a:t>Team Zero Click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19456"/>
            <a:ext cx="2011680" cy="9500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347472"/>
            <a:ext cx="722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1" i="0" spc="40">
                <a:solidFill>
                  <a:srgbClr val="11172E"/>
                </a:solidFill>
                <a:latin typeface="Cambria"/>
              </a:rPr>
              <a:t>RESEARCH  AND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0994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9AA3C0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916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200" b="1" i="0">
                <a:solidFill>
                  <a:srgbClr val="C9921B"/>
                </a:solidFill>
                <a:latin typeface="Cambria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5486400" cy="38039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310896" cy="310896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_c003683714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3" y="1415125"/>
            <a:ext cx="223845" cy="2238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1403604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GOVERNMENT SOURCES &amp; SCHEMES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" y="1911095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961388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1883664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Ministry of Social Justice and Empowerment, Government of India.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080260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Bharat–TULIP (Traditional Artisans’ Upliftment Livelihood Programme) — e-marketplace for marginalized artisans; launched 5 Nov 2024, 1,500+ artisans onboarded.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391156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4"/>
              </a:rPr>
              <a:t>https://nbcfdc.gov.in/nbcfdc/web/tulip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" y="2660903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711196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2633472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Ministry of Social Justice and Empowerment, Government of India.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2830068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PM-DAKSH — skilling and livelihood support for SC, OBC, EWS, DNT and Safai Karamchari artisans.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3140964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5"/>
              </a:rPr>
              <a:t>https://socialjustice.gov.in/</a:t>
            </a:r>
          </a:p>
        </p:txBody>
      </p:sp>
      <p:sp>
        <p:nvSpPr>
          <p:cNvPr id="24" name="Oval 23"/>
          <p:cNvSpPr/>
          <p:nvPr/>
        </p:nvSpPr>
        <p:spPr>
          <a:xfrm>
            <a:off x="694944" y="3410712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461004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3383280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Development Commissioner (Handicrafts), Ministry of Textiles.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579876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Crafts Clusters of India — artisan development, marketing and cluster support; India Handmade marketplace.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3890772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6"/>
              </a:rPr>
              <a:t>https://handicrafts.nic.in/</a:t>
            </a:r>
          </a:p>
        </p:txBody>
      </p:sp>
      <p:sp>
        <p:nvSpPr>
          <p:cNvPr id="29" name="Oval 28"/>
          <p:cNvSpPr/>
          <p:nvPr/>
        </p:nvSpPr>
        <p:spPr>
          <a:xfrm>
            <a:off x="694944" y="4160520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21081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133087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India Brand Equity Foundation, Ministry of Commerce &amp; Industry.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4329683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Indian handicrafts industry — ~7 million artisans; exports ₹33,122 crore in FY 2024-25.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640579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7"/>
              </a:rPr>
              <a:t>https://www.ibef.org/exports/handicrafts-industry-india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1188720"/>
            <a:ext cx="5486400" cy="38039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1371600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86263dd08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0045" y="1415125"/>
            <a:ext cx="223845" cy="22384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03720" y="1403604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 spc="55">
                <a:solidFill>
                  <a:srgbClr val="11172E"/>
                </a:solidFill>
                <a:latin typeface="Calibri"/>
              </a:rPr>
              <a:t>STANDARDS, PLATFORMS &amp; DATA</a:t>
            </a:r>
          </a:p>
        </p:txBody>
      </p:sp>
      <p:sp>
        <p:nvSpPr>
          <p:cNvPr id="38" name="Oval 37"/>
          <p:cNvSpPr/>
          <p:nvPr/>
        </p:nvSpPr>
        <p:spPr>
          <a:xfrm>
            <a:off x="6483096" y="1911095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1961388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856" y="1883664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Bhashini — National Language Translation Mission, MeitY.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8856" y="2080260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ASR, machine translation and TTS across the 22 scheduled Indian languages; 300+ models.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8856" y="2391156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9"/>
              </a:rPr>
              <a:t>https://bhashini.gov.in/</a:t>
            </a:r>
          </a:p>
        </p:txBody>
      </p:sp>
      <p:sp>
        <p:nvSpPr>
          <p:cNvPr id="43" name="Oval 42"/>
          <p:cNvSpPr/>
          <p:nvPr/>
        </p:nvSpPr>
        <p:spPr>
          <a:xfrm>
            <a:off x="6483096" y="2660903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3096" y="2711196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8856" y="2633472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Open Network for Digital Commerce (ONDC), DPIIT-backed initiative.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8856" y="2830068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Seller Network Participant onboarding, digital cataloguing and marketplace discovery.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48856" y="3140964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10"/>
              </a:rPr>
              <a:t>https://www.ondc.org/</a:t>
            </a:r>
          </a:p>
        </p:txBody>
      </p:sp>
      <p:sp>
        <p:nvSpPr>
          <p:cNvPr id="48" name="Oval 47"/>
          <p:cNvSpPr/>
          <p:nvPr/>
        </p:nvSpPr>
        <p:spPr>
          <a:xfrm>
            <a:off x="6483096" y="3410712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3096" y="3461004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8856" y="3383280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Intellectual Property India, Government of India.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48856" y="3579876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Geographical Indications — protection of handicrafts and traditional products; 318 GI-tagged crafts.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48856" y="3890772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11"/>
              </a:rPr>
              <a:t>https://ipindia.gov.in/</a:t>
            </a:r>
          </a:p>
        </p:txBody>
      </p:sp>
      <p:sp>
        <p:nvSpPr>
          <p:cNvPr id="53" name="Oval 52"/>
          <p:cNvSpPr/>
          <p:nvPr/>
        </p:nvSpPr>
        <p:spPr>
          <a:xfrm>
            <a:off x="6483096" y="4160520"/>
            <a:ext cx="237744" cy="237744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83096" y="421081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48856" y="4133087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1172E"/>
                </a:solidFill>
                <a:latin typeface="Calibri"/>
              </a:rPr>
              <a:t>Smart India Hackathon 2026, AICTE / Ministry of Education.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8856" y="4329683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3552"/>
                </a:solidFill>
                <a:latin typeface="Calibri"/>
              </a:rPr>
              <a:t>Problem Statement SIH26090 — AI-driven market linkage and smart cataloging for marginalized artisans.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48856" y="4640579"/>
            <a:ext cx="4645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766E"/>
                </a:solidFill>
                <a:latin typeface="Calibri"/>
                <a:hlinkClick r:id="rId12"/>
              </a:rPr>
              <a:t>https://www.sih.gov.in/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157216"/>
            <a:ext cx="11274552" cy="1042415"/>
          </a:xfrm>
          <a:prstGeom prst="roundRect">
            <a:avLst>
              <a:gd name="adj" fmla="val 6000"/>
            </a:avLst>
          </a:prstGeom>
          <a:solidFill>
            <a:srgbClr val="11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321808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 spc="90">
                <a:solidFill>
                  <a:srgbClr val="C9921B"/>
                </a:solidFill>
                <a:latin typeface="Calibri"/>
              </a:rPr>
              <a:t>DESIGNED TO PLUG INTO INDIA’S DIGITAL PUBLIC INFRASTRUCTURE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" y="5687568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c_80b1835210d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924" y="5725972"/>
            <a:ext cx="197510" cy="1975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97280" y="5669280"/>
            <a:ext cx="1644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Bhashini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AA3C0"/>
                </a:solidFill>
                <a:latin typeface="Calibri"/>
              </a:rPr>
              <a:t>on the roadmap</a:t>
            </a:r>
          </a:p>
        </p:txBody>
      </p:sp>
      <p:sp>
        <p:nvSpPr>
          <p:cNvPr id="63" name="Oval 62"/>
          <p:cNvSpPr/>
          <p:nvPr/>
        </p:nvSpPr>
        <p:spPr>
          <a:xfrm>
            <a:off x="2905963" y="5687568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c_11713938ef9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44368" y="5725972"/>
            <a:ext cx="197510" cy="19751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271723" y="5669280"/>
            <a:ext cx="1644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ONDC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AA3C0"/>
                </a:solidFill>
                <a:latin typeface="Calibri"/>
              </a:rPr>
              <a:t>market reach</a:t>
            </a:r>
          </a:p>
        </p:txBody>
      </p:sp>
      <p:sp>
        <p:nvSpPr>
          <p:cNvPr id="66" name="Oval 65"/>
          <p:cNvSpPr/>
          <p:nvPr/>
        </p:nvSpPr>
        <p:spPr>
          <a:xfrm>
            <a:off x="5080406" y="5687568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c_1d820f080bb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8811" y="5725972"/>
            <a:ext cx="197510" cy="1975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446166" y="5669280"/>
            <a:ext cx="1644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Bharat-TULIP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AA3C0"/>
                </a:solidFill>
                <a:latin typeface="Calibri"/>
              </a:rPr>
              <a:t>MoSJE marketplace</a:t>
            </a:r>
          </a:p>
        </p:txBody>
      </p:sp>
      <p:sp>
        <p:nvSpPr>
          <p:cNvPr id="69" name="Oval 68"/>
          <p:cNvSpPr/>
          <p:nvPr/>
        </p:nvSpPr>
        <p:spPr>
          <a:xfrm>
            <a:off x="7254849" y="5687568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c_b99de44a713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93254" y="5725972"/>
            <a:ext cx="197510" cy="1975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620609" y="5669280"/>
            <a:ext cx="1644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GI Registry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AA3C0"/>
                </a:solidFill>
                <a:latin typeface="Calibri"/>
              </a:rPr>
              <a:t>craft authenticity</a:t>
            </a:r>
          </a:p>
        </p:txBody>
      </p:sp>
      <p:sp>
        <p:nvSpPr>
          <p:cNvPr id="72" name="Oval 71"/>
          <p:cNvSpPr/>
          <p:nvPr/>
        </p:nvSpPr>
        <p:spPr>
          <a:xfrm>
            <a:off x="9429292" y="5687568"/>
            <a:ext cx="274320" cy="274320"/>
          </a:xfrm>
          <a:prstGeom prst="ellipse">
            <a:avLst/>
          </a:prstGeom>
          <a:solidFill>
            <a:srgbClr val="33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c_95267661c48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7697" y="5725972"/>
            <a:ext cx="197510" cy="19751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795052" y="5669280"/>
            <a:ext cx="1644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PM-DAKSH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AA3C0"/>
                </a:solidFill>
                <a:latin typeface="Calibri"/>
              </a:rPr>
              <a:t>artisan skilling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