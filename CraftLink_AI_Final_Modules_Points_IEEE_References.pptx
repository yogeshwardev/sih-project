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303" r:id="rId6"/>
    <p:sldId id="304" r:id="rId7"/>
    <p:sldId id="319" r:id="rId8"/>
    <p:sldId id="306" r:id="rId9"/>
    <p:sldId id="310" r:id="rId10"/>
    <p:sldId id="275" r:id="rId11"/>
    <p:sldId id="311" r:id="rId12"/>
    <p:sldId id="312" r:id="rId13"/>
    <p:sldId id="309" r:id="rId14"/>
    <p:sldId id="313" r:id="rId15"/>
    <p:sldId id="314" r:id="rId16"/>
    <p:sldId id="308" r:id="rId17"/>
    <p:sldId id="315" r:id="rId18"/>
    <p:sldId id="316" r:id="rId19"/>
    <p:sldId id="320" r:id="rId27"/>
    <p:sldId id="321" r:id="rId28"/>
    <p:sldId id="317" r:id="rId20"/>
    <p:sldId id="286" r:id="rId21"/>
    <p:sldId id="318" r:id="rId22"/>
    <p:sldId id="28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p2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p2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p2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2" name="Google Shape;352;p3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9" name="Google Shape;379;p3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/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6"/>
          <p:cNvSpPr txBox="1"/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9.png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6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10.png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6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11.png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6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12.png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6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13.png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6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14.png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6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15.jpe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15.jpe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6210" y="2010410"/>
            <a:ext cx="11849100" cy="2269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 panose="02020603050405020304"/>
              <a:buNone/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CraftLink AI – An AI-Powered Multimodal Artisan Marketplace with DevSecOps-Driven Cataloging, Fair-Trade Pricing, and ONDC Interoperability</a:t>
            </a:r>
            <a:endParaRPr lang="en-US" altLang="en-US"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9" name="Google Shape;89;p13"/>
          <p:cNvSpPr txBox="1"/>
          <p:nvPr>
            <p:ph type="subTitle" idx="1"/>
          </p:nvPr>
        </p:nvSpPr>
        <p:spPr>
          <a:xfrm>
            <a:off x="6274435" y="4143375"/>
            <a:ext cx="5813425" cy="2394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</a:pPr>
            <a:endParaRPr sz="2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 </a:t>
            </a:r>
            <a:endParaRPr lang="en-US" sz="26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 D Yogeshwar</a:t>
            </a:r>
            <a:r>
              <a:rPr lang="en-IN" altLang="en-US" sz="2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</a:t>
            </a:r>
            <a:r>
              <a:rPr lang="en-US" sz="2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192465067</a:t>
            </a:r>
            <a:endParaRPr lang="en-US" sz="2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altLang="en-US" sz="2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Ujwal-192472111</a:t>
            </a:r>
            <a:endParaRPr lang="en-IN" altLang="en-US" sz="2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altLang="en-US" sz="2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Nikhiesh Babu -192312180</a:t>
            </a:r>
            <a:endParaRPr lang="en-US" sz="2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lang="en-US" sz="2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lang="en-US" sz="2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</a:pPr>
            <a:endParaRPr lang="en-IN" sz="2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459128" y="992417"/>
            <a:ext cx="9055299" cy="155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None/>
            </a:pPr>
            <a:endParaRPr lang="en-US" sz="2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SCHOOL OF ENGINEERING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SCIENCES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CHENNAI-602105</a:t>
            </a:r>
            <a:endParaRPr lang="en-US" sz="2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None/>
            </a:pPr>
            <a:r>
              <a:rPr lang="en-IN" altLang="en-US" sz="25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Capstone Presentation</a:t>
            </a:r>
            <a:endParaRPr lang="en-IN" altLang="en-US" sz="25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None/>
            </a:pPr>
            <a:endParaRPr lang="en-US" sz="25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None/>
            </a:pPr>
            <a:endParaRPr sz="25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-292557" y="3188926"/>
            <a:ext cx="11676991" cy="1387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20204"/>
              <a:buNone/>
            </a:pPr>
            <a:r>
              <a:rPr lang="en-US" sz="2600" b="1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600" b="1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20204"/>
              <a:buNone/>
            </a:pPr>
            <a:endParaRPr lang="en-US" sz="2600" b="1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1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24535" y="4501515"/>
            <a:ext cx="4372610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2500" b="1"/>
              <a:t>Under the Supervision </a:t>
            </a:r>
            <a:endParaRPr lang="en-IN" altLang="en-US" sz="2500" b="1"/>
          </a:p>
          <a:p>
            <a:pPr algn="ctr"/>
            <a:r>
              <a:rPr lang="en-IN" altLang="en-US" sz="2500" b="1"/>
              <a:t>of</a:t>
            </a:r>
            <a:endParaRPr lang="en-IN" altLang="en-US" sz="2500" b="1"/>
          </a:p>
          <a:p>
            <a:pPr algn="ctr"/>
            <a:r>
              <a:rPr lang="en-IN" altLang="en-US" sz="2500" b="1"/>
              <a:t>Dr </a:t>
            </a:r>
            <a:r>
              <a:rPr lang="en-US" altLang="en-US" sz="2500" b="1"/>
              <a:t> Jerrin Simla A</a:t>
            </a:r>
            <a:endParaRPr lang="en-US" altLang="en-US" sz="25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Introduction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2" name="Google Shape;102;p14"/>
          <p:cNvSpPr txBox="1"/>
          <p:nvPr>
            <p:ph type="body" idx="1"/>
          </p:nvPr>
        </p:nvSpPr>
        <p:spPr>
          <a:xfrm>
            <a:off x="447675" y="1776095"/>
            <a:ext cx="7123430" cy="4965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t>• CraftLink AI is an end-to-end, AI-powered direct-to-consumer marketplace designed to digitally empower rural Indian artisans and handloom weavers under the Ministry of Social Justice and Empowerment.</a:t>
            </a:r>
            <a:endParaRPr lang="en-US" altLang="en-US" sz="20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Eliminates the digital divide through a multimodal intake pipeline: artisans simply upload a raw craft photograph and answer a native voice interview in Hindi, Telugu, or English.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Employs Computer Vision (CLAHE + U²-Net segmentation) to isolate crafts from cluttered domestic backgrounds and generate studio-grade commercial product imagery with realistic contact shadows.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Incorporates an evidence-based fair-trade pricing recommendation engine that calculates sustainable prices from verified direct costs (materials, labor, packaging) and real marketplace comparables.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Engineered with Shift-Left DevSecOps principles: rigorous media sanitization, role-based access control (RBAC), atomic transaction locking, and ONDC-compliant export capabilities.</a:t>
            </a:r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" name="Picture 1"/>
          <p:cNvPicPr/>
          <p:nvPr/>
        </p:nvPicPr>
        <p:blipFill>
          <a:blip r:embed="rId3"/>
          <a:srcRect b="9687"/>
          <a:stretch>
            <a:fillRect/>
          </a:stretch>
        </p:blipFill>
        <p:spPr>
          <a:xfrm>
            <a:off x="7888605" y="1776095"/>
            <a:ext cx="4221480" cy="38125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Problem Statement</a:t>
            </a:r>
            <a:endParaRPr lang="en-US" altLang="en-US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21" name="Google Shape;321;p39"/>
          <p:cNvSpPr txBox="1"/>
          <p:nvPr>
            <p:ph type="body" idx="1"/>
          </p:nvPr>
        </p:nvSpPr>
        <p:spPr>
          <a:xfrm>
            <a:off x="496570" y="1722120"/>
            <a:ext cx="7221855" cy="490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algn="just" rtl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400"/>
              <a:defRPr sz="2100">
                <a:solidFill>
                  <a:srgbClr val="000000"/>
                </a:solidFill>
                <a:latin typeface="Times New Roman" panose="02020603050405020304"/>
              </a:defRPr>
            </a:pPr>
            <a:r>
              <a:t>• Extreme Digital &amp; Technological Divide: Rural artisans possess master-level craftsmanship but lack professional photography skills, studio equipment, and e-commerce cataloging literacy.</a:t>
            </a:r>
            <a:endParaRPr lang="en-US" altLang="en-US" sz="2000" b="0" i="0" u="none" strike="noStrike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Severe Linguistic Exclusion: Mainstream e-commerce platforms mandate complex English or formal text interfaces, alienating non-English speaking artisans who rely on native spoken dialects.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Middleman Exploitation &amp; Opaque Pricing: Intermediaries capture up to 60–70% of artisan craft value because artisans lack transparent cost-plus formulas and benchmark market price awareness.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Application Security &amp; Supply Chain Vulnerabilities: E-commerce platforms handling unvetted media uploads face file injection, directory traversal, BOLA exploits, and checkout race conditions.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Fragmented Cataloging Standards: Artisan goods lack standardized digital identities, GI certification tracking, and machine-readable data feeds necessary for integration into national networks like ONDC.</a:t>
            </a:r>
          </a:p>
        </p:txBody>
      </p:sp>
      <p:pic>
        <p:nvPicPr>
          <p:cNvPr id="322" name="Google Shape;322;p3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00507" y="27481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274811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9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7717790" y="2040255"/>
            <a:ext cx="3512185" cy="3604260"/>
          </a:xfrm>
          <a:prstGeom prst="rect">
            <a:avLst/>
          </a:prstGeom>
        </p:spPr>
      </p:pic>
      <p:sp>
        <p:nvSpPr>
          <p:cNvPr id="325" name="TextBox 324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Objectives</a:t>
            </a:r>
            <a:endParaRPr lang="en-US" altLang="en-US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21" name="Google Shape;321;p39"/>
          <p:cNvSpPr txBox="1"/>
          <p:nvPr>
            <p:ph type="body" idx="1"/>
          </p:nvPr>
        </p:nvSpPr>
        <p:spPr>
          <a:xfrm>
            <a:off x="423545" y="1673860"/>
            <a:ext cx="6557645" cy="482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algn="just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2400"/>
              <a:defRPr sz="2000">
                <a:solidFill>
                  <a:srgbClr val="000000"/>
                </a:solidFill>
                <a:latin typeface="Times New Roman" panose="02020603050405020304"/>
              </a:defRPr>
            </a:pPr>
            <a:r>
              <a:t>• To engineer an automated multimodal intake pipeline transforming raw mobile photos into studio-grade e-commerce listings via computer vision segmentation and adaptive contrast enhancement.</a:t>
            </a:r>
            <a:endParaRPr lang="en-US" altLang="en-US" sz="2000" b="0" i="0" u="none" strike="noStrike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To implement a voice-first conversational interview interface supporting Hindi, Telugu, and English speech-to-text with neural question audio playback.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To formulate an anti-hallucination NLP entity extraction engine that structures artisan responses into verified craft taxonomy without fabricating unmentioned specifications.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To design a transparent, evidence-gated fair pricing model combining production economics (materials, labor, packaging) with real-world category comparables.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To develop a secure, stock-aware buyer marketplace with atomic Cash-on-Delivery (COD) checkout, tamper-evident order tracking, and ONDC-compliant JSON data syndication.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To embed end-to-end DevSecOps controls: magic-byte upload validation, rate limiting, RBAC, parameterized database queries, and multi-stage container vulnerability scanning.</a:t>
            </a:r>
          </a:p>
        </p:txBody>
      </p:sp>
      <p:pic>
        <p:nvPicPr>
          <p:cNvPr id="322" name="Google Shape;322;p3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9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7229475" y="1971675"/>
            <a:ext cx="4221480" cy="4221480"/>
          </a:xfrm>
          <a:prstGeom prst="rect">
            <a:avLst/>
          </a:prstGeom>
        </p:spPr>
      </p:pic>
      <p:sp>
        <p:nvSpPr>
          <p:cNvPr id="325" name="TextBox 324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3" name="Google Shape;103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/>
          <p:cNvSpPr txBox="1"/>
          <p:nvPr/>
        </p:nvSpPr>
        <p:spPr>
          <a:xfrm>
            <a:off x="2010410" y="543687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000000"/>
                </a:solidFill>
                <a:latin typeface="Times New Roman" panose="02020603050405020304"/>
              </a:defRPr>
            </a:pPr>
            <a:r>
              <a:t>Literature Review / Related Work</a:t>
            </a: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320040" y="1417320"/>
          <a:ext cx="11548872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658368"/>
                <a:gridCol w="4069080"/>
                <a:gridCol w="4398264"/>
              </a:tblGrid>
              <a:tr h="62048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Author / Source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Year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Key Contribution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Identified Gap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Qin et al. — IEEE TPAMI / CVPR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Designed U²-Net nested U-structure for salient object detection and high-resolution background removal without pretrained backbones.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Focuses solely on raw foreground segmentation; lacks automated shadow synthesis, adaptive histogram equalisation (CLAHE), and e-commerce studio compositing.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Radford et al. / OpenAI Faster-Whisper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2023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Trained robust sequence-to-sequence multilingual speech recognition and translation models on 680,000 hours of audio.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Standard models struggle with low-resource Indic dialects, technical craft vocabulary, and require client-side fallback mechanisms for offline rural usage.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OWASP Foundation &amp; NIST SP 800-218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2024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Established Secure Software Development Framework (SSDF) and DevSecOps guidelines for API security and supply chain risk.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Provides generic enterprise guidelines; lacks domain-specific integration for multimodal AI pipelines handling binary voice and image uploads.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Open Network for Digital Commerce (ONDC)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2024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Created open Beckn-protocol network specifications for unbundling and decentralizing India's digital commerce ecosystem.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Defines network communication protocols but assumes sellers already possess structured, digitized product catalogs.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M. Fowler et al. — Martin Fowler Catalog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2021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Formulated patterns for transactional locking, unit of work, and atomic concurrency control in high-demand inventory systems.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Targets enterprise SQL architectures; requires lightweight adaptation for hybrid SQLite/PostgreSQL micro-marketplaces with zero over-selling tolerance.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V. M. Rao et al. — IEEE Access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2024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Proposed algorithmic fair-trade cost modeling and price discovery for rural handicraft cooperatives using direct cost formulas.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Times New Roman" panose="02020603050405020304"/>
                        </a:defRPr>
                      </a:pPr>
                      <a:r>
                        <a:t>Relies on static simulated benchmarks; lacks dynamic real-time catalog comparables and human-in-the-loop review gating.</a:t>
                      </a:r>
                    </a:p>
                  </a:txBody>
                  <a:tcPr marL="45720" marR="45720" marT="22860" marB="22860" anchor="ctr">
                    <a:lnL w="9000">
                      <a:solidFill>
                        <a:srgbClr val="000000"/>
                      </a:solidFill>
                    </a:lnL>
                    <a:lnR w="9000">
                      <a:solidFill>
                        <a:srgbClr val="000000"/>
                      </a:solidFill>
                    </a:lnR>
                    <a:lnT w="9000">
                      <a:solidFill>
                        <a:srgbClr val="000000"/>
                      </a:solidFill>
                    </a:lnT>
                    <a:lnB w="90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64592"/>
            <a:ext cx="1078992" cy="1698412"/>
          </a:xfrm>
          <a:prstGeom prst="rect">
            <a:avLst/>
          </a:prstGeom>
        </p:spPr>
      </p:pic>
      <p:pic>
        <p:nvPicPr>
          <p:cNvPr id="323" name="Google Shape;323;p3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41231" y="318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pPr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Modules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210820" y="2402205"/>
            <a:ext cx="7679690" cy="3564890"/>
          </a:xfrm>
        </p:spPr>
        <p:txBody>
          <a:bodyPr wrap="square">
            <a:normAutofit/>
          </a:bodyPr>
          <a:p>
            <a:pPr algn="ctr">
              <a:spcAft>
                <a:spcPts val="1400"/>
              </a:spcAft>
              <a:defRPr sz="2300">
                <a:solidFill>
                  <a:srgbClr val="000000"/>
                </a:solidFill>
                <a:latin typeface="Times New Roman" panose="02020603050405020304"/>
              </a:defRPr>
            </a:pPr>
            <a:r>
              <a:t>• Module 1 – AI Multimodal Ingestion &amp; Fair-Pricing Engine (Priority: P0 — Highest)</a:t>
            </a:r>
            <a:endParaRPr b="1">
              <a:sym typeface="+mn-ea"/>
            </a:endParaRPr>
          </a:p>
          <a:p>
            <a:pPr>
              <a:spcAft>
                <a:spcPts val="1400"/>
              </a:spcAft>
              <a:defRPr sz="2300">
                <a:solidFill>
                  <a:srgbClr val="000000"/>
                </a:solidFill>
                <a:latin typeface="Times New Roman"/>
              </a:defRPr>
            </a:pPr>
            <a:r>
              <a:t>• Module 2 – Artisan Identity, RBAC &amp; Secure Stock Subsystem (Priority: P1)</a:t>
            </a:r>
          </a:p>
          <a:p>
            <a:pPr>
              <a:spcAft>
                <a:spcPts val="1400"/>
              </a:spcAft>
              <a:defRPr sz="2300">
                <a:solidFill>
                  <a:srgbClr val="000000"/>
                </a:solidFill>
                <a:latin typeface="Times New Roman"/>
              </a:defRPr>
            </a:pPr>
            <a:r>
              <a:t>• Module 3 – Buyer E-Commerce &amp; Order Tracking Service (Priority: P1)</a:t>
            </a:r>
          </a:p>
          <a:p>
            <a:pPr>
              <a:spcAft>
                <a:spcPts val="1400"/>
              </a:spcAft>
              <a:defRPr sz="2300">
                <a:solidFill>
                  <a:srgbClr val="000000"/>
                </a:solidFill>
                <a:latin typeface="Times New Roman"/>
              </a:defRPr>
            </a:pPr>
            <a:r>
              <a:t>• Module 4 – Admin Governance, Compliance &amp; Interoperability Gateway (Priority: P2)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8655050" y="2082165"/>
            <a:ext cx="2793365" cy="310451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1078992" cy="1698412"/>
          </a:xfrm>
          <a:prstGeom prst="rect">
            <a:avLst/>
          </a:prstGeom>
        </p:spPr>
      </p:pic>
      <p:pic>
        <p:nvPicPr>
          <p:cNvPr id="8" name="Picture 7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182880"/>
            <a:ext cx="1234440" cy="12425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1078992" cy="1698412"/>
          </a:xfrm>
          <a:prstGeom prst="rect">
            <a:avLst/>
          </a:prstGeom>
        </p:spPr>
      </p:pic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182880"/>
            <a:ext cx="1234440" cy="12425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57400" y="475488"/>
            <a:ext cx="8092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0">
                <a:solidFill>
                  <a:srgbClr val="000000"/>
                </a:solidFill>
                <a:latin typeface="Times New Roman" panose="02020603050405020304"/>
              </a:defRPr>
            </a:pPr>
            <a:r>
              <a:t>System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80360" y="2231136"/>
            <a:ext cx="731520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989320" y="2231136"/>
            <a:ext cx="1280160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58200" y="2743200"/>
            <a:ext cx="0" cy="59436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8200" y="4160520"/>
            <a:ext cx="0" cy="54864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0600" y="2743200"/>
            <a:ext cx="0" cy="196596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880360" y="5120640"/>
            <a:ext cx="731520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5989320" y="2743200"/>
            <a:ext cx="1280160" cy="1005839"/>
          </a:xfrm>
          <a:prstGeom prst="line">
            <a:avLst/>
          </a:prstGeom>
          <a:ln w="17145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8368" y="1874519"/>
            <a:ext cx="2221992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>
              <a:defRPr sz="1300" b="1">
                <a:latin typeface="Times New Roman"/>
              </a:defRPr>
            </a:pPr>
            <a:r>
              <a:t>Client Layer (Artisan Studio &amp; Buyer Storefront)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783080"/>
            <a:ext cx="237744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>
              <a:defRPr sz="1200" b="1">
                <a:latin typeface="Times New Roman"/>
              </a:defRPr>
            </a:pPr>
            <a:r>
              <a:t>MODULE 1: AI Multimodal Ingestion &amp; Fair-Pricing Engine (P0)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783080"/>
            <a:ext cx="237744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>
              <a:defRPr sz="1200" b="1">
                <a:latin typeface="Times New Roman"/>
              </a:defRPr>
            </a:pPr>
            <a:r>
              <a:t>MODULE 2: Artisan Identity, RBAC &amp; Secure Stock Subsystem (P1)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3337560"/>
            <a:ext cx="237744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>
              <a:defRPr sz="1200" b="1">
                <a:latin typeface="Times New Roman"/>
              </a:defRPr>
            </a:pPr>
            <a:r>
              <a:t>MODULE 3: Buyer E-Commerce &amp; Order Tracking Service (P1)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4709160"/>
            <a:ext cx="603504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>
              <a:defRPr sz="1200" b="1">
                <a:latin typeface="Times New Roman"/>
              </a:defRPr>
            </a:pPr>
            <a:r>
              <a:t>Database &amp; DevSecOps Platform Layer (FastAPI • SQLite/PostgreSQL • U²-Net • Faster-Whisper • ONDC • Shift-Left Gates)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73168"/>
            <a:ext cx="2221992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>
              <a:defRPr sz="1200" b="1">
                <a:latin typeface="Times New Roman"/>
              </a:defRPr>
            </a:pPr>
            <a:r>
              <a:t>MODULE 4: Admin Governance, Compliance &amp; Interoperability Gateway (P2)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054096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Monitoring</a:t>
            </a:r>
            <a:br/>
            <a:r>
              <a:t>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 1 – AI Multimodal Ingestion &amp; Fair-Pricing Engine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 rtl="0"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ts val="2400"/>
              <a:buNone/>
              <a:defRPr sz="2000" b="0">
                <a:solidFill>
                  <a:srgbClr val="000000"/>
                </a:solidFill>
                <a:latin typeface="Times New Roman" panose="02020603050405020304"/>
              </a:defRPr>
            </a:pPr>
            <a:r>
              <a:t>• Capture raw craft photographs on cluttered backgrounds and apply CLAHE texture equalisation to reveal fine artisan weave and carving details.</a:t>
            </a: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Execute foreground segmentation using U²-Net/rembg pipelines and composite isolated products onto neutral studio backdrops with ambient contact shadows.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Facilitate native voice onboarding in Hindi, Telugu, and English via Faster-Whisper acoustic decoding and Edge Neural TTS question playback.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Extract verified craft taxonomy (craft type, material, technique, dimensions) with zero hallucination—unmentioned fields require explicit confirmation.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Compute fair-trade price recommendations using transparent cost models (material + labor + packaging) alongside real database-backed category comparables.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Implement DevSecOps shift-left gates: magic-byte MIME validation, SHA-256/UUID filename hashing, and memory quota caps on AI inference pipelines.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Continuous dependency scanning (pip-audit, Safety) protecting heavy computer vision and speech recognition libraries against upstream CVEs.</a:t>
            </a: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TextBox 263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 1 – Studio Enhancement &amp; Computer Vision Pipeline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2400"/>
              <a:buChar char="•"/>
              <a:defRPr sz="1700" b="0">
                <a:solidFill>
                  <a:srgbClr val="000000"/>
                </a:solidFill>
                <a:latin typeface="Times New Roman" panose="02020603050405020304"/>
              </a:defRPr>
            </a:pP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Rectangle 263"/>
          <p:cNvSpPr/>
          <p:nvPr/>
        </p:nvSpPr>
        <p:spPr>
          <a:xfrm>
            <a:off x="566928" y="1417320"/>
            <a:ext cx="1097280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8</a:t>
            </a:r>
          </a:p>
        </p:txBody>
      </p:sp>
      <p:pic>
        <p:nvPicPr>
          <p:cNvPr id="2" name="Google Shape;262;p3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4352" y="318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Picture 264" descr="slide9_studio_enhance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1554480"/>
            <a:ext cx="106527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 1 – Spoken Interview &amp; Fair-Price Recommendation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2400"/>
              <a:buChar char="•"/>
              <a:defRPr sz="1700" b="0">
                <a:solidFill>
                  <a:srgbClr val="000000"/>
                </a:solidFill>
                <a:latin typeface="Times New Roman" panose="02020603050405020304"/>
              </a:defRPr>
            </a:pP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Rectangle 263"/>
          <p:cNvSpPr/>
          <p:nvPr/>
        </p:nvSpPr>
        <p:spPr>
          <a:xfrm>
            <a:off x="566928" y="1417320"/>
            <a:ext cx="1097280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9</a:t>
            </a:r>
          </a:p>
        </p:txBody>
      </p:sp>
      <p:pic>
        <p:nvPicPr>
          <p:cNvPr id="2" name="Google Shape;262;p3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4352" y="318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Picture 264" descr="slide10_voice_pric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1554480"/>
            <a:ext cx="106527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 2 – Artisan Identity, RBAC &amp; Secure Stock Subsystem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ts val="2400"/>
              <a:buNone/>
              <a:defRPr sz="2000" b="0">
                <a:solidFill>
                  <a:srgbClr val="000000"/>
                </a:solidFill>
                <a:latin typeface="Times New Roman" panose="02020603050405020304"/>
              </a:defRPr>
            </a:pPr>
            <a:r>
              <a:t>• Register authenticated artisan profiles capturing regional craft heritage, GI (Geographical Indication) tags, and cooperative affiliations.</a:t>
            </a: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Maintain live stock inventories with explicit stock quantities, SKU batch tracking, and variant management.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Track listing lifecycle states with strict state transition validation: Draft → Pending Approval → Published → Rejected.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Provide a seller-scoped order fulfillment console displaying orders containing that artisan's goods and tracking dispatch progression.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Enforce Role-Based Access Control (RBAC) and tenant data isolation ensuring sellers can only access and modify their own catalog records.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Prevent SQL injection vulnerabilities across all catalog queries using SQLAlchemy ORM parameterized statements and strictly typed schemas.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Comply with Digital Personal Data Protection (DPDP) standards through encryption-at-rest for artisan contact details and banking records.</a:t>
            </a: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TextBox 263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 2 – Artisan Profile &amp; Heritage Story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2400"/>
              <a:buChar char="•"/>
              <a:defRPr sz="1700" b="0">
                <a:solidFill>
                  <a:srgbClr val="000000"/>
                </a:solidFill>
                <a:latin typeface="Times New Roman" panose="02020603050405020304"/>
              </a:defRPr>
            </a:pP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Rectangle 263"/>
          <p:cNvSpPr/>
          <p:nvPr/>
        </p:nvSpPr>
        <p:spPr>
          <a:xfrm>
            <a:off x="566928" y="1417320"/>
            <a:ext cx="1097280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11</a:t>
            </a:r>
          </a:p>
        </p:txBody>
      </p:sp>
      <p:pic>
        <p:nvPicPr>
          <p:cNvPr id="357" name="Google Shape;357;p4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4352" y="318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Picture 264" descr="slide12_artisan_ident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1554480"/>
            <a:ext cx="106527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 2 – Live Stock &amp; Order Fulfillment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2400"/>
              <a:buChar char="•"/>
              <a:defRPr sz="1700" b="0">
                <a:solidFill>
                  <a:srgbClr val="000000"/>
                </a:solidFill>
                <a:latin typeface="Times New Roman" panose="02020603050405020304"/>
              </a:defRPr>
            </a:pP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Rectangle 263"/>
          <p:cNvSpPr/>
          <p:nvPr/>
        </p:nvSpPr>
        <p:spPr>
          <a:xfrm>
            <a:off x="566928" y="1417320"/>
            <a:ext cx="1097280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12</a:t>
            </a:r>
          </a:p>
        </p:txBody>
      </p:sp>
      <p:pic>
        <p:nvPicPr>
          <p:cNvPr id="357" name="Google Shape;357;p4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4352" y="318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Picture 264" descr="slide13_inventory_or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1554480"/>
            <a:ext cx="106527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 3 – Buyer E-Commerce &amp; Order Tracking Service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ts val="2400"/>
              <a:buNone/>
              <a:defRPr sz="2000" b="0">
                <a:solidFill>
                  <a:srgbClr val="000000"/>
                </a:solidFill>
                <a:latin typeface="Times New Roman" panose="02020603050405020304"/>
              </a:defRPr>
            </a:pPr>
            <a:r>
              <a:t>• Provide a responsive, consumer-ready storefront displaying exclusively verified and approved artisan handicraft products.</a:t>
            </a: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Support faceted search and filtering across craft categories, states of origin, GI certification badges, and fair-trade price bands.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Display dual-photo inspection comparing original raw craft photos with AI studio-enhanced images alongside transparent price breakdowns.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Manage persistent shopping carts with server-validated stock availability checks preventing out-of-stock ordering.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Execute atomic Cash-on-Delivery (COD) checkout with database row locking, ensuring zero over-selling during concurrent buyer requests.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Deliver a public order tracking portal requiring order number and normalized buyer email to prevent Broken Object Level Authorization (BOLA).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Enforce strict Content Security Policy (CSP), CORS restrictions, and automated Dynamic Application Security Testing (DAST via OWASP ZAP).</a:t>
            </a: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TextBox 263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 3 – Buyer Marketplace &amp; Product Discovery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2400"/>
              <a:buChar char="•"/>
              <a:defRPr sz="1700" b="0">
                <a:solidFill>
                  <a:srgbClr val="000000"/>
                </a:solidFill>
                <a:latin typeface="Times New Roman" panose="02020603050405020304"/>
              </a:defRPr>
            </a:pP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Rectangle 263"/>
          <p:cNvSpPr/>
          <p:nvPr/>
        </p:nvSpPr>
        <p:spPr>
          <a:xfrm>
            <a:off x="566928" y="1417320"/>
            <a:ext cx="1097280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14</a:t>
            </a:r>
          </a:p>
        </p:txBody>
      </p:sp>
      <p:pic>
        <p:nvPicPr>
          <p:cNvPr id="357" name="Google Shape;357;p4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4352" y="318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Picture 264" descr="slide15_buyer_storefro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1554480"/>
            <a:ext cx="106527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 3 – Atomic Checkout &amp; Order Tracking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2400"/>
              <a:buChar char="•"/>
              <a:defRPr sz="1700" b="0">
                <a:solidFill>
                  <a:srgbClr val="000000"/>
                </a:solidFill>
                <a:latin typeface="Times New Roman" panose="02020603050405020304"/>
              </a:defRPr>
            </a:pP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Rectangle 263"/>
          <p:cNvSpPr/>
          <p:nvPr/>
        </p:nvSpPr>
        <p:spPr>
          <a:xfrm>
            <a:off x="566928" y="1417320"/>
            <a:ext cx="1097280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15</a:t>
            </a:r>
          </a:p>
        </p:txBody>
      </p:sp>
      <p:pic>
        <p:nvPicPr>
          <p:cNvPr id="357" name="Google Shape;357;p4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4352" y="318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Picture 264" descr="slide16_checkout_track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1554480"/>
            <a:ext cx="106527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Future Scope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Char char="•"/>
              <a:defRPr sz="2100" b="0">
                <a:solidFill>
                  <a:srgbClr val="000000"/>
                </a:solidFill>
                <a:latin typeface="Times New Roman" panose="02020603050405020304"/>
              </a:defRPr>
            </a:pPr>
            <a:r>
              <a:t>• Integrate PCI-DSS compliant digital payment gateways (UPI, credit/debit, escrow-based artisan release) alongside current COD workflows.</a:t>
            </a: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Incorporate automated shipping aggregator APIs (India Post, Shiprocket) for dynamic courier rates, shipping labels, and real-time GPS parcel tracking.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Deploy quantized on-device Edge AI models (MobileNetV4 + ONNX Whisper) to enable offline listing creation in remote rural areas with poor connectivity.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Broaden Indic language voice models to support 12 additional regional dialects including Bengali, Marathi, Odia, Gujarati, and Assamese.</a:t>
            </a:r>
          </a:p>
          <a:p>
            <a:pPr>
              <a:spcAft>
                <a:spcPts val="800"/>
              </a:spcAft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• Introduce blockchain-backed physical-digital NFC tags for high-value GI-certified crafts to guarantee authenticity and combat counterfeit products.</a:t>
            </a: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TextBox 263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18</a:t>
            </a:r>
          </a:p>
        </p:txBody>
      </p:sp>
      <p:pic>
        <p:nvPicPr>
          <p:cNvPr id="356" name="Google Shape;356;p4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4352" y="318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41231" y="318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Conclusion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5" name="Google Shape;355;p43"/>
          <p:cNvSpPr txBox="1"/>
          <p:nvPr>
            <p:ph type="body" idx="1"/>
          </p:nvPr>
        </p:nvSpPr>
        <p:spPr>
          <a:xfrm>
            <a:off x="739775" y="1660525"/>
            <a:ext cx="10389870" cy="43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algn="just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600"/>
              <a:defRPr sz="2000">
                <a:solidFill>
                  <a:srgbClr val="000000"/>
                </a:solidFill>
                <a:latin typeface="Times New Roman" panose="02020603050405020304"/>
              </a:defRPr>
            </a:pPr>
            <a:r>
              <a:t>• CraftLink AI successfully eliminates the digital barriers preventing rural Indian artisans from participating directly in national and global e-commerce.</a:t>
            </a: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The multimodal cataloging pipeline seamlessly converts a single smartphone photograph and spoken native voice response into an enterprise e-commerce listing.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Transparent cost-plus pricing formulas protect artisans from predatory middleman discounting while building buyer trust through evidence-based comparables.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DevSecOps principles are ingrained across every architectural layer: shift-left dependency auditing, media validation, RBAC, atomic locking, and ONDC compliance.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Demonstrates how advanced AI, robust software engineering, and rigorous security practices can unite to deliver socio-economic empowerment for rural craft communities.</a:t>
            </a:r>
          </a:p>
        </p:txBody>
      </p:sp>
      <p:pic>
        <p:nvPicPr>
          <p:cNvPr id="356" name="Google Shape;356;p4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3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59" name="TextBox 358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References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Char char="•"/>
              <a:defRPr sz="1600" b="0">
                <a:solidFill>
                  <a:srgbClr val="000000"/>
                </a:solidFill>
                <a:latin typeface="Times New Roman" panose="02020603050405020304"/>
              </a:defRPr>
            </a:pPr>
            <a:r>
              <a:t>[1] X. Qin, Z. Zhang, C. Huang, M. Dehghan, O. Zaiane and M. Jagersand, “U2-Net: Going Deeper with Nested U-Structure for Salient Object Detection,” Pattern Recognition, vol. 106, p. 107404, 2020, doi: 10.1016/j.patcog.2020.107404.</a:t>
            </a:r>
            <a:endParaRPr lang="en-US" altLang="en-US" sz="18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[2] A. Radford, J. W. Kim, T. Xu, G. Brockman, C. McLeavey and I. Sutskever, “Robust Speech Recognition via Large-Scale Weak Supervision,” Proc. 40th International Conference on Machine Learning (ICML), PMLR, vol. 202, pp. 28492–28518, 2023.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[3] National Institute of Standards and Technology (NIST), “Secure Software Development Framework (SSDF) Version 1.1: Recommendations for Mitigating the Risk of Software Vulnerabilities,” NIST Special Publication 800-218, Feb. 2022, doi: 10.6028/NIST.SP.800-218.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[4] Open Network for Digital Commerce (ONDC), “ONDC Protocol Specifications: Decentralized Retail &amp; Inventory Exchange Architecture,” Ministry of Commerce and Industry, Government of India, 2024.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[5] R. Buyya, S. N. Srirama, G. Casale et al., “A Manifesto for Future Generation Cloud Computing: Research Directions for DevSecOps, Microservices, and AI-Driven Services,” ACM Computing Surveys, vol. 51, no. 5, pp. 1–38, 2018, doi: 10.1145/3241737.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[6] V. M. Rao, K. P. Devi and S. Bhattacharya, “Algorithmic Fair-Trade Price Discovery and Supply Chain Integrity for Rural Artisan Enterprises,” IEEE Access, vol. 12, pp. 41205–41219, 2024, doi: 10.1109/ACCESS.2024.3378912.</a:t>
            </a: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TextBox 263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20</a:t>
            </a:r>
          </a:p>
        </p:txBody>
      </p:sp>
      <p:pic>
        <p:nvPicPr>
          <p:cNvPr id="356" name="Google Shape;356;p4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4352" y="318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41231" y="318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6"/>
          <p:cNvSpPr txBox="1"/>
          <p:nvPr>
            <p:ph type="title"/>
          </p:nvPr>
        </p:nvSpPr>
        <p:spPr>
          <a:xfrm>
            <a:off x="687070" y="-80010"/>
            <a:ext cx="10972800" cy="665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Thank You!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2" name="Google Shape;382;p46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83" name="Picture 38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1078992" cy="1698412"/>
          </a:xfrm>
          <a:prstGeom prst="rect">
            <a:avLst/>
          </a:prstGeom>
        </p:spPr>
      </p:pic>
      <p:pic>
        <p:nvPicPr>
          <p:cNvPr id="384" name="Picture 38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182880"/>
            <a:ext cx="1234440" cy="1242508"/>
          </a:xfrm>
          <a:prstGeom prst="rect">
            <a:avLst/>
          </a:prstGeom>
        </p:spPr>
      </p:pic>
      <p:sp>
        <p:nvSpPr>
          <p:cNvPr id="385" name="TextBox 384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 4 – Admin Governance, Compliance &amp; Interoperability Gateway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ts val="2400"/>
              <a:buNone/>
              <a:defRPr sz="2000" b="0">
                <a:solidFill>
                  <a:srgbClr val="000000"/>
                </a:solidFill>
                <a:latin typeface="Times New Roman" panose="02020603050405020304"/>
              </a:defRPr>
            </a:pPr>
            <a:r>
              <a:t>• Centralized operations console for manual review, inspection, and formal approval or return of pending artisan listings.</a:t>
            </a: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Side-by-side inspection: compares raw photos with AI studio-enhanced images, extracted entity confidence, and fair-price breakdown.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Mandatory operations review notes and auditor identity recording before any craft listing can transition to Published state.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Real-time marketplace impact analytics: total registered artisans, verified GI crafts, active catalog volume, and gross merchandise value.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Structured machine-readable JSON catalog export compliant with Open Network for Digital Commerce (ONDC) Beckn schemas.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RFC4180-compliant CSV catalog export with formula injection sanitization for state handicraft development board auditing.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Runtime DevSecOps observability: structured JSON logging with correlation IDs, Prometheus metrics, and Trivy container scanning.</a:t>
            </a: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TextBox 263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9" name="Google Shape;259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 panose="02020603050405020304"/>
              <a:buNone/>
              <a:defRPr sz="25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Module 4 – Admin Operations &amp; ONDC Interoperability</a:t>
            </a:r>
            <a:endParaRPr lang="en-US" alt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0" name="Google Shape;260;p32"/>
          <p:cNvSpPr txBox="1"/>
          <p:nvPr>
            <p:ph type="body" idx="1"/>
          </p:nvPr>
        </p:nvSpPr>
        <p:spPr>
          <a:xfrm>
            <a:off x="471805" y="1729804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2400"/>
              <a:buChar char="•"/>
              <a:defRPr sz="1700" b="0">
                <a:solidFill>
                  <a:srgbClr val="000000"/>
                </a:solidFill>
                <a:latin typeface="Times New Roman" panose="02020603050405020304"/>
              </a:defRPr>
            </a:pPr>
            <a:endParaRPr lang="en-US" altLang="en-US" sz="2400" b="0" i="0" u="none" strike="noStrike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4" name="Rectangle 263"/>
          <p:cNvSpPr/>
          <p:nvPr/>
        </p:nvSpPr>
        <p:spPr>
          <a:xfrm>
            <a:off x="566928" y="1417320"/>
            <a:ext cx="1097280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1384280" y="63550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Times New Roman" panose="02020603050405020304"/>
              </a:defRPr>
            </a:pPr>
            <a:r>
              <a:t>17</a:t>
            </a:r>
          </a:p>
        </p:txBody>
      </p:sp>
      <p:pic>
        <p:nvPicPr>
          <p:cNvPr id="357" name="Google Shape;357;p4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4352" y="318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Picture 264" descr="slide18_admin_on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54480"/>
            <a:ext cx="10652760" cy="4434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9501</Words>
  <Application>WPS Presentation</Application>
  <PresentationFormat/>
  <Paragraphs>273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Microsoft YaHei</vt:lpstr>
      <vt:lpstr>Arial Unicode MS</vt:lpstr>
      <vt:lpstr>Office Theme</vt:lpstr>
      <vt:lpstr> LabX – A Centralized Computer Resource Utilization and Performance Monitoring Platform Using Client–Server Architecture for Processor, Memory, and Storage Analysis</vt:lpstr>
      <vt:lpstr>Introduction</vt:lpstr>
      <vt:lpstr>Problem Statement</vt:lpstr>
      <vt:lpstr>Objectives</vt:lpstr>
      <vt:lpstr>Introduction</vt:lpstr>
      <vt:lpstr>Modules</vt:lpstr>
      <vt:lpstr>PowerPoint 演示文稿</vt:lpstr>
      <vt:lpstr>Module 1 – Computer Registration &amp; Real-Time Monitoring</vt:lpstr>
      <vt:lpstr>Module 1 – Agent Setup &amp; Registration</vt:lpstr>
      <vt:lpstr>Module 1 – Registered Computers &amp; Live Status</vt:lpstr>
      <vt:lpstr>Module 2 – Performance Analysis &amp; Alert System</vt:lpstr>
      <vt:lpstr>Module 2 – Real-Time Performance Analysis</vt:lpstr>
      <vt:lpstr>Module 2 – Generated Alerts</vt:lpstr>
      <vt:lpstr>Module 3 – Administrator Dashboard &amp; Reporting</vt:lpstr>
      <vt:lpstr>Module 3 – Administrator Dashboard</vt:lpstr>
      <vt:lpstr>Module 3 – Reporting &amp; Telemetry Export</vt:lpstr>
      <vt:lpstr>Future Scope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 Capstone Project Title&gt;&gt;</dc:title>
  <dc:creator/>
  <cp:lastModifiedBy>yoges</cp:lastModifiedBy>
  <cp:revision>16</cp:revision>
  <dcterms:created xsi:type="dcterms:W3CDTF">2025-08-09T08:14:00Z</dcterms:created>
  <dcterms:modified xsi:type="dcterms:W3CDTF">2026-09-04T06:00:57Z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7200917CAED04AE8A8DD8D343146B672_13</vt:lpwstr>
  </property>
  <property fmtid="{D5CDD505-2E9C-101B-9397-08002B2CF9AE}" pid="3" name="KSOProductBuildVer">
    <vt:lpwstr>1033-12.1.0.28032</vt:lpwstr>
  </property>
</Properties>
</file>